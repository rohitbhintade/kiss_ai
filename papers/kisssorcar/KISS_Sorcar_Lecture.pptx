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B2A4A"/>
                </a:solidFill>
              </a:rPr>
              <a:t>KISS Sorcar</a:t>
            </a:r>
          </a:p>
          <a:p>
            <a:r>
              <a:rPr sz="2800">
                <a:solidFill>
                  <a:srgbClr val="2C3E6B"/>
                </a:solidFill>
              </a:rPr>
              <a:t>A Stupidly-Simple General-Purpose and
Software Engineering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74151"/>
                </a:solidFill>
              </a:defRPr>
            </a:pPr>
            <a:r>
              <a:t>Koushik Sen</a:t>
            </a:r>
          </a:p>
          <a:p>
            <a:pPr>
              <a:defRPr sz="1800">
                <a:solidFill>
                  <a:srgbClr val="6B7280"/>
                </a:solidFill>
              </a:defRPr>
            </a:pPr>
            <a:r>
              <a:t>EECS Department, UC Berkeley</a:t>
            </a:r>
          </a:p>
          <a:p>
            <a:pPr>
              <a:defRPr sz="1600">
                <a:solidFill>
                  <a:srgbClr val="3B82F6"/>
                </a:solidFill>
              </a:defRPr>
            </a:pPr>
            <a:r>
              <a:t>ksen@berkeley.edu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6B7280"/>
                </a:solidFill>
              </a:defRPr>
            </a:pPr>
            <a:r>
              <a:t>"Everything should be made as simple as possible, but not simpler." — Albert Einstein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B82F6"/>
                </a:solidFill>
              </a:defRPr>
            </a:pPr>
            <a:r>
              <a:t>https://github.com/ksenxx/kiss_ai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B82F6"/>
                </a:solidFill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Motivation &amp;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B82F6"/>
                </a:solidFill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402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The KISS Agent Framework — Five-Layer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B82F6"/>
                </a:solidFill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346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The System Prompt — Engineering Discipline as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B82F6"/>
                </a:solidFill>
              </a:defRPr>
            </a:pPr>
            <a: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290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VS Code Extension — Unique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233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B82F6"/>
                </a:solidFill>
              </a:defRPr>
            </a:pPr>
            <a: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02336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Evaluation on Terminal Bench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B82F6"/>
                </a:solidFill>
              </a:defRPr>
            </a:pPr>
            <a:r>
              <a:t>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6177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Painless Software Engineering — A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1208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3B82F6"/>
                </a:solidFill>
              </a:defRPr>
            </a:pPr>
            <a:r>
              <a:t>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12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Related Work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Why do we need another AI assistant?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Stubborn Gaps in Current AI Assistants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Finite Context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65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Single sessions cannot handle long-horizon tasks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60320"/>
            <a:ext cx="411480" cy="4114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Single-Mistake Derailment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34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One error can send the entire session off track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Dead-End Loops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033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Agents get stuck repeating the same failing approach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AI Slop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720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Low-quality, generic, hedging output that wastes tokens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16636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Difficult Review &amp; Revert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440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Generated changes are hard to inspect and roll 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Our Approach: Keep It Simple, Stupid</a:t>
            </a:r>
          </a:p>
        </p:txBody>
      </p:sp>
      <p:sp>
        <p:nvSpPr>
          <p:cNvPr id="6" name="Rectangle 5"/>
          <p:cNvSpPr/>
          <p:nvPr/>
        </p:nvSpPr>
        <p:spPr>
          <a:xfrm rot="2700000">
            <a:off x="914400" y="175564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KISS Agent Framework: ~1,850 lines of Python</a:t>
            </a:r>
          </a:p>
        </p:txBody>
      </p:sp>
      <p:sp>
        <p:nvSpPr>
          <p:cNvPr id="8" name="Rectangle 7"/>
          <p:cNvSpPr/>
          <p:nvPr/>
        </p:nvSpPr>
        <p:spPr>
          <a:xfrm rot="2700000">
            <a:off x="914400" y="235000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Five-layer agent hierarchy — each layer adds exactly one concern</a:t>
            </a:r>
          </a:p>
        </p:txBody>
      </p:sp>
      <p:sp>
        <p:nvSpPr>
          <p:cNvPr id="10" name="Rectangle 9"/>
          <p:cNvSpPr/>
          <p:nvPr/>
        </p:nvSpPr>
        <p:spPr>
          <a:xfrm rot="2700000">
            <a:off x="914400" y="294436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Robust system prompt encoding engineering discipline</a:t>
            </a:r>
          </a:p>
        </p:txBody>
      </p:sp>
      <p:sp>
        <p:nvSpPr>
          <p:cNvPr id="12" name="Rectangle 11"/>
          <p:cNvSpPr/>
          <p:nvPr/>
        </p:nvSpPr>
        <p:spPr>
          <a:xfrm rot="2700000">
            <a:off x="914400" y="353872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Quality over latency — let the model validate its own output</a:t>
            </a:r>
          </a:p>
        </p:txBody>
      </p:sp>
      <p:sp>
        <p:nvSpPr>
          <p:cNvPr id="14" name="Rectangle 13"/>
          <p:cNvSpPr/>
          <p:nvPr/>
        </p:nvSpPr>
        <p:spPr>
          <a:xfrm rot="2700000">
            <a:off x="914400" y="413308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Built using itself — continuous self-hosted stress test</a:t>
            </a:r>
          </a:p>
        </p:txBody>
      </p:sp>
      <p:sp>
        <p:nvSpPr>
          <p:cNvPr id="16" name="Rectangle 15"/>
          <p:cNvSpPr/>
          <p:nvPr/>
        </p:nvSpPr>
        <p:spPr>
          <a:xfrm rot="2700000">
            <a:off x="914400" y="4727448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61772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74151"/>
                </a:solidFill>
              </a:defRPr>
            </a:pPr>
            <a:r>
              <a:t>Free, open-source VS Code extension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KISS Agent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A Five-Layer Agent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Five-Layer 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4304" y="1554480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5: Worktree Sorcar Agent</a:t>
            </a:r>
            <a:r>
              <a:rPr sz="1500">
                <a:solidFill>
                  <a:srgbClr val="DBEAFE"/>
                </a:solidFill>
              </a:rPr>
              <a:t>    Git worktree isolation — branch per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704" y="1554480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692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4304" y="2441448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4: Chat Sorcar Agent</a:t>
            </a:r>
            <a:r>
              <a:rPr sz="1500">
                <a:solidFill>
                  <a:srgbClr val="DBEAFE"/>
                </a:solidFill>
              </a:rPr>
              <a:t>    Persistent multi-turn chat with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704" y="2441448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120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4304" y="3328416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3: Sorcar Agent</a:t>
            </a:r>
            <a:r>
              <a:rPr sz="1500">
                <a:solidFill>
                  <a:srgbClr val="DBEAFE"/>
                </a:solidFill>
              </a:rPr>
              <a:t>    Coding tools, browser, parallel sub-agents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704" y="3328416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323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24304" y="4215384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2: Relentless Agent</a:t>
            </a:r>
            <a:r>
              <a:rPr sz="1500">
                <a:solidFill>
                  <a:srgbClr val="DBEAFE"/>
                </a:solidFill>
              </a:rPr>
              <a:t>    Auto continuation via summarization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6704" y="4215384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297 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4304" y="5102352"/>
            <a:ext cx="9144000" cy="777240"/>
          </a:xfrm>
          <a:prstGeom prst="roundRect">
            <a:avLst>
              <a:gd name="adj" fmla="val 1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1: KISS Agent</a:t>
            </a:r>
            <a:r>
              <a:rPr sz="1500">
                <a:solidFill>
                  <a:srgbClr val="DBEAFE"/>
                </a:solidFill>
              </a:rPr>
              <a:t>    Budget-tracked ReAct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6704" y="5102352"/>
            <a:ext cx="1188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>
                <a:solidFill>
                  <a:srgbClr val="BFDBFE"/>
                </a:solidFill>
              </a:defRPr>
            </a:pPr>
            <a:r>
              <a:t>409 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304" y="6080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B7280"/>
                </a:solidFill>
              </a:defRPr>
            </a:pPr>
            <a:r>
              <a:t>Total: ~1,850 lines of Python  •  Strict inheritance chain  •  Each layer delegates upward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1: KISS Agent — The Inner Execution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Native Function 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55448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Tools registered as ordinary Python callables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OpenAI-compatible tool schema, cached at setup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Budget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33172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Per-step token counting &amp; dollar cost computation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Per-agent budget + global budget (thread-safe)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Error 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10896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Retries transient API errors (rate limits, server errors)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Immediate raise on non-retryable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Non-Agentic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88620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Single generation without ReAct loop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Useful for summarization &amp; Q/A sub-tasks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2926080" cy="5486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Stateless Across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66344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Each run() resets conversation, counters, tool registry</a:t>
            </a:r>
          </a:p>
          <a:p>
            <a:pPr>
              <a:lnSpc>
                <a:spcPts val="2000"/>
              </a:lnSpc>
              <a:defRPr sz="1500">
                <a:solidFill>
                  <a:srgbClr val="374151"/>
                </a:solidFill>
              </a:defRPr>
            </a:pPr>
            <a:r>
              <a:t>Safe to reuse a single instance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KISS Agent — A Complete Agent in 10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9448495" cy="41148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from kiss.core.kiss_agent import KISSAgent</a:t>
            </a: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def calculate(expression: str) -&gt; str:</a:t>
            </a: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    """Evaluate a math expression."""</a:t>
            </a: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    return str(eval(expression))</a:t>
            </a: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agent = KISSAgent(name="Math Buddy")</a:t>
            </a: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result = agent.run(</a:t>
            </a: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    model_name="gemini-2.5-flash",</a:t>
            </a: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    prompt_template="Calculate: {question}",</a:t>
            </a: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    arguments={"question": "What is 15% of 847?"},</a:t>
            </a: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    tools=[calculate]</a:t>
            </a: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)</a:t>
            </a:r>
          </a:p>
          <a:p>
            <a:pPr>
              <a:lnSpc>
                <a:spcPts val="1800"/>
              </a:lnSpc>
              <a:defRPr sz="1300">
                <a:solidFill>
                  <a:srgbClr val="E2E8F0"/>
                </a:solidFill>
                <a:latin typeface="Courier New"/>
              </a:defRPr>
            </a:pPr>
            <a:r>
              <a:t>print(result)  # 127.05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5216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B7280"/>
                </a:solidFill>
              </a:defRPr>
            </a:pPr>
            <a:r>
              <a:t>The framework handles tool-schema generation, the ReAct loop, and budget tracking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2: Relentless Agent — Never Give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Automatic continuation across sub-sessions via structured summarization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8655" cy="7315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600" b="0">
                <a:solidFill>
                  <a:srgbClr val="92400E"/>
                </a:solidFill>
              </a:defRPr>
            </a:pPr>
            <a:r>
              <a:t>Key Insight: When a sub-session exhausts its context window, produce a</a:t>
            </a:r>
            <a:br/>
            <a:r>
              <a:t>structured chronological summary and resume in a fresh sub-session.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Continuation Protocol: finish(success, is_continue, summary) → fresh sub-session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033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611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Chronological summaries with code snippets dramatically improve coherence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0624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114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Forced Continuation: crashed sessions are summarized by a separate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70916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617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Near-budget-end instruction forces self-continuation before hitting step limit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21208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120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74151"/>
                </a:solidFill>
              </a:defRPr>
            </a:pPr>
            <a:r>
              <a:t>Naïve "summarize context" produces poor continuations — specificity matters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Relentless Agent — Continuation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CONTINUATION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4937760" cy="32004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# Task Progress (Continuation {continuation_number})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{progress_text}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# Continue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- Complete the rest of the task.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- **DON'T** redo completed work.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- If you have been retrying the same approach without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  progress, step back and rethink the strategy.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SUMMARIZER PROMPT (on crash)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32004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# Summarizer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The trajectory of the agent is stored in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the file: {trajectory_file}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# Instructions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- Read the trajectory file and analyze it.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- Return a precise chronologically-ordered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  list of things the agent did with the reason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  for doing that along with relevant code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  snippets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Related to Reflexion (Shinn et al., 2023) — but summaries continue the task rather than critique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3: Sorcar Agent — The Toolbox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defRPr sz="1700" b="1">
                <a:solidFill>
                  <a:srgbClr val="065941"/>
                </a:solidFill>
              </a:defRPr>
            </a:pPr>
            <a:r>
              <a:t>🖥️  Coding Tools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Shell executor (streaming, timeout, cancellable)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File reader, precise string editor, file writer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Tool names match Claude Code for reliability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defRPr sz="1700" b="1">
                <a:solidFill>
                  <a:srgbClr val="1E40AF"/>
                </a:solidFill>
              </a:defRPr>
            </a:pPr>
            <a:r>
              <a:t>🌐  Browser Automation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Programmatic Chromium control via Playwright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Navigate, read accessibility trees, click,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type, scroll, 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defRPr sz="1700" b="1">
                <a:solidFill>
                  <a:srgbClr val="92400E"/>
                </a:solidFill>
              </a:defRPr>
            </a:pPr>
            <a:r>
              <a:t>⚡  Parallel Sub-Agents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Independent Sorcar instances in thread pool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Each gets own LLM context and tools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Results collected in input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defRPr sz="1700" b="1">
                <a:solidFill>
                  <a:srgbClr val="6B21A8"/>
                </a:solidFill>
              </a:defRPr>
            </a:pPr>
            <a:r>
              <a:t>💬  User Interaction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ask-user-question tool for clarification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Renders as text input in VS Code sidebar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Reads from stdin in CLI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9260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defRPr sz="1700" b="1">
                <a:solidFill>
                  <a:srgbClr val="9F1239"/>
                </a:solidFill>
              </a:defRPr>
            </a:pPr>
            <a:r>
              <a:t>🐳  Docker Isolation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Docker-aware tool variants when image specified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All commands execute inside container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Sandboxing for untrusted tasks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4: Chat Sorcar Agent —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Persistent multi-turn conversation with history 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9448495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Chat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Each task assigned to a chat session with a stable chat ID.</a:t>
            </a:r>
          </a:p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Prior tasks &amp; results prepended as numbered context entries.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383280"/>
            <a:ext cx="9448495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Session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86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Three operations: new chat, resume by description, resume by ID.</a:t>
            </a:r>
          </a:p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Automatic continuity in IDE, manual selection in CLI.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54880"/>
            <a:ext cx="9448495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Metadata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257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Records model, working directory, version, tokens, cost.</a:t>
            </a:r>
          </a:p>
          <a:p>
            <a:pPr>
              <a:lnSpc>
                <a:spcPts val="2400"/>
              </a:lnSpc>
              <a:defRPr sz="1600">
                <a:solidFill>
                  <a:srgbClr val="374151"/>
                </a:solidFill>
              </a:defRPr>
            </a:pPr>
            <a:r>
              <a:t>Audit trail supports cost analysis and debugging.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Layer 5: Worktree Sorcar Agent —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Git worktree isolation — every task runs on its own branch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05740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Branch-Per-Task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New git branch + worktree per task. User's main tree stays untouched.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8892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Dirty-State Preservation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Uncommitted changes copied to worktree as baseline commit.</a:t>
            </a:r>
          </a:p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Cherry-pick replays only agent changes during merge.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52044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474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Concurrency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747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Per-repo file lock serializes checkout/stash/merge/pop.</a:t>
            </a:r>
          </a:p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Thread-local storage isolates per-task state.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25196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2062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Crash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062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All state stored in git (branch names, config). Reconstructs from git on restart.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98348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377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Graceful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377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500">
                <a:solidFill>
                  <a:srgbClr val="374151"/>
                </a:solidFill>
              </a:defRPr>
            </a:pPr>
            <a:r>
              <a:t>Falls back to direct execution if not in git repo, no commits, or detached HEAD.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System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Engineering Discipline as LLM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System Prompt — Not "Be Helpful" but a Precise Engineering Spec</a:t>
            </a:r>
          </a:p>
        </p:txBody>
      </p:sp>
      <p:sp>
        <p:nvSpPr>
          <p:cNvPr id="6" name="Chevron 5"/>
          <p:cNvSpPr/>
          <p:nvPr/>
        </p:nvSpPr>
        <p:spPr>
          <a:xfrm>
            <a:off x="914400" y="167335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Execution Mindset</a:t>
            </a:r>
          </a:p>
        </p:txBody>
      </p:sp>
      <p:sp>
        <p:nvSpPr>
          <p:cNvPr id="8" name="Chevron 7"/>
          <p:cNvSpPr/>
          <p:nvPr/>
        </p:nvSpPr>
        <p:spPr>
          <a:xfrm>
            <a:off x="914400" y="217627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148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Tool Rules</a:t>
            </a:r>
          </a:p>
        </p:txBody>
      </p:sp>
      <p:sp>
        <p:nvSpPr>
          <p:cNvPr id="10" name="Chevron 9"/>
          <p:cNvSpPr/>
          <p:nvPr/>
        </p:nvSpPr>
        <p:spPr>
          <a:xfrm>
            <a:off x="914400" y="267919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Pre-flight Checks</a:t>
            </a:r>
          </a:p>
        </p:txBody>
      </p:sp>
      <p:sp>
        <p:nvSpPr>
          <p:cNvPr id="12" name="Chevron 11"/>
          <p:cNvSpPr/>
          <p:nvPr/>
        </p:nvSpPr>
        <p:spPr>
          <a:xfrm>
            <a:off x="914400" y="318211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154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Code Style Guidelines</a:t>
            </a:r>
          </a:p>
        </p:txBody>
      </p:sp>
      <p:sp>
        <p:nvSpPr>
          <p:cNvPr id="14" name="Chevron 13"/>
          <p:cNvSpPr/>
          <p:nvPr/>
        </p:nvSpPr>
        <p:spPr>
          <a:xfrm>
            <a:off x="914400" y="368503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Deep Work Rules</a:t>
            </a:r>
          </a:p>
        </p:txBody>
      </p:sp>
      <p:sp>
        <p:nvSpPr>
          <p:cNvPr id="16" name="Chevron 15"/>
          <p:cNvSpPr/>
          <p:nvPr/>
        </p:nvSpPr>
        <p:spPr>
          <a:xfrm>
            <a:off x="6217920" y="167335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Planning for Complex Tasks</a:t>
            </a:r>
          </a:p>
        </p:txBody>
      </p:sp>
      <p:sp>
        <p:nvSpPr>
          <p:cNvPr id="18" name="Chevron 17"/>
          <p:cNvSpPr/>
          <p:nvPr/>
        </p:nvSpPr>
        <p:spPr>
          <a:xfrm>
            <a:off x="6217920" y="217627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148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Testing Instructions</a:t>
            </a:r>
          </a:p>
        </p:txBody>
      </p:sp>
      <p:sp>
        <p:nvSpPr>
          <p:cNvPr id="20" name="Chevron 19"/>
          <p:cNvSpPr/>
          <p:nvPr/>
        </p:nvSpPr>
        <p:spPr>
          <a:xfrm>
            <a:off x="6217920" y="267919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Self-Improvement Loop</a:t>
            </a:r>
          </a:p>
        </p:txBody>
      </p:sp>
      <p:sp>
        <p:nvSpPr>
          <p:cNvPr id="22" name="Chevron 21"/>
          <p:cNvSpPr/>
          <p:nvPr/>
        </p:nvSpPr>
        <p:spPr>
          <a:xfrm>
            <a:off x="6217920" y="318211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154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Pre-Finish Verification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6217920" y="3685032"/>
            <a:ext cx="320040" cy="27432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Web Research &amp; File Browsing Protocols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029200"/>
            <a:ext cx="10728655" cy="7315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500" b="0">
                <a:solidFill>
                  <a:srgbClr val="92400E"/>
                </a:solidFill>
              </a:defRPr>
            </a:pPr>
            <a:r>
              <a:t>Each section addresses specific, observed failure modes in LLM agents.</a:t>
            </a:r>
            <a:br/>
            <a:r>
              <a:t>The prompt is the result of months of iterative refinement through self-hosted development.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Execution Mindset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SYSTEM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10972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# FOCUS ON THE GIVEN TASK. ITS COMPLETION IS YOUR SOLE GOAL.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# BE RELENTLESS. BE CALM. BE RIGOROUS. BE ACCURATE.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# CHECK FACTS. NO AI SLOP.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38328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Prevents drift, meta-commentary, tangential exploration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RELENTLESS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74904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Treat errors as obstacles to overcome, not reasons to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CALM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11480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Analyze errors methodically before reacting — no thrashing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RIGOROUS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Follow verification disciplines, don't take shortcuts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ACCURATE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84632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Verify claims against actual filesystem, not parametric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CHECK 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21208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Verify information collected via web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B82F6"/>
                </a:solidFill>
                <a:latin typeface="Courier New"/>
              </a:defRPr>
            </a:pPr>
            <a:r>
              <a:t>NO AI SLOP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57784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151"/>
                </a:solidFill>
              </a:defRPr>
            </a:pPr>
            <a:r>
              <a:t>No filler phrases, unnecessary caveats, or "certainly!"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Tool Rules — Mechanical Protocols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Write() for new files. Edit() for small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55448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Prevents overwriting existing files with incomplete versions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Bash timeout: 300s default, retry higher, background for &gt;10min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8483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Eliminates spurious failures from short timeouts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15184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Use ULTRA thinking always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615184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Activates extended reasoning for complex multi-step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553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If running out of context, continue via finish()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145536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Prevents "rush to finish" — clean handoff beats frantic 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7588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READ large files in chunks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75888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Prevents context window exhaustion from a single file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Create temp files in PWD/tmp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20624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Centralizes artifacts, prevents polluting the project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36592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User cannot see intermediate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73659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B7280"/>
                </a:solidFill>
              </a:defRPr>
            </a:pPr>
            <a:r>
              <a:t>→ Forces all user-facing info into the finish summary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Pre-flight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Read every file you will modify before changing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Most common bug source: editing based on stale mental model.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Fresh read ensures operating on current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If task depends on architecture, read source files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Extends per-file reading to architectural context.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Prevents jumping to code generation without understanding.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If referenced files/commands don't exist, ask instead of guessing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LLMs confabulate — they'll edit phantom files.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Converts silent failure into explicit clarification.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10728655" cy="3657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✓  When fixing a bug, write tests first, then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Test-first discipline: test reproduces bug, proves fix.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Forces understanding before patching.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Code Style Guidelines — A Minimalist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Simple, clean, readable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LLMs over-engineer — unnecessary abstractions, helpers, indirection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No unnecessary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57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Intermediate variables that serve no purpose increase cognitive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Avoid tight 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60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Cross-module globals and shared state create fragile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No attribute redirections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63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self.x = other.x creates two paths to the same value — harder to reason about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No duplicate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5661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Check for existing implementations before creating new utilities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Document public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69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Public API is the contract — documentation is not optional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Root cause, not symptoms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572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Trace the causal chain to the root — no ad hoc patches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• Think before you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Metacognitive pause: "Is this simple, elegant, general, minimal?"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Deep Work Rules — No Vague Edits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"align" / "match" / "make consistent" →</a:t>
            </a:r>
          </a:p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Read the target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Model often infers what Y contains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without ever reading 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Use concrete values, not indirections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Instead of "update X to match Y":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read Y, extract values, write into 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List all planned changes before executing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657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Multi-file changes need full-scope awareness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to prevent inconsistencies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09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09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1B2A4A"/>
                </a:solidFill>
              </a:defRPr>
            </a:pPr>
            <a:r>
              <a:t>Every change needs a verification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7091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Test, grep, CLI command — no change</a:t>
            </a:r>
          </a:p>
          <a:p>
            <a:pPr>
              <a:lnSpc>
                <a:spcPts val="2200"/>
              </a:lnSpc>
              <a:defRPr sz="1500">
                <a:solidFill>
                  <a:srgbClr val="6B7280"/>
                </a:solidFill>
              </a:defRPr>
            </a:pPr>
            <a:r>
              <a:t>without programmatic validation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Planning for Complex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Triggered for: 3+ files, cross-module changes, or architectural work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List the files that need to change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Enumerate full blast radius before touching any file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88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State the exact intended change in each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Convert "update the database module" → concrete specification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Identify dependencies and execution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11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New utility must be written before callers can import it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43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State how each change will be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B7280"/>
                </a:solidFill>
              </a:defRPr>
            </a:pPr>
            <a:r>
              <a:t>Pair each change with a test, grep, or CLI command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728655" cy="4114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400" b="0">
                <a:solidFill>
                  <a:srgbClr val="92400E"/>
                </a:solidFill>
              </a:defRPr>
            </a:pPr>
            <a:r>
              <a:t>Escape clause: For simple single-file tasks, skip formal planning and execute directly.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Testing Instructions — The Most Opinionated Section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09344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Run lint + typecheckers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Catches unused imports, type mismatches, style violations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76272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100% branch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214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Forces tests for error handling, edge cases, early returns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43200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NO mocks, patches, or fakes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8833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Mock tests verify implementation, not behavior.</a:t>
            </a:r>
          </a:p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A mocked suite can pass while the system is broken.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310128"/>
            <a:ext cx="164592" cy="16459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Integration tests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5526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Exercise actual behavior with real I/O,</a:t>
            </a:r>
          </a:p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real DB connections, real inter-module interactions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877056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Tests must be independent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2219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No shared state, no execution order dependencies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44398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Only run impacted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3891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Full suite after every edit wastes time and compute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010912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9560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Race condition: sleep &lt; 0.1s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95604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400">
                <a:solidFill>
                  <a:srgbClr val="374151"/>
                </a:solidFill>
              </a:defRPr>
            </a:pPr>
            <a:r>
              <a:t>Widen race window to make bugs deterministic in tests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Self-Improvement Loop — Cross-Session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B2A4A"/>
                </a:solidFill>
              </a:defRPr>
            </a:pPr>
            <a:r>
              <a:t>Read USER_PREFS.md</a:t>
            </a:r>
          </a:p>
          <a:p>
            <a:pPr algn="ctr">
              <a:defRPr sz="1500" b="1">
                <a:solidFill>
                  <a:srgbClr val="1B2A4A"/>
                </a:solidFill>
              </a:defRPr>
            </a:pPr>
            <a:r>
              <a:t>at task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5941"/>
                </a:solidFill>
              </a:defRPr>
            </a:pPr>
            <a:r>
              <a:t>Execute task with</a:t>
            </a:r>
          </a:p>
          <a:p>
            <a:pPr algn="ctr">
              <a:defRPr sz="1500" b="1">
                <a:solidFill>
                  <a:srgbClr val="065941"/>
                </a:solidFill>
              </a:defRPr>
            </a:pPr>
            <a:r>
              <a:t>accumulated knowledge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92400E"/>
                </a:solidFill>
              </a:defRPr>
            </a:pPr>
            <a:r>
              <a:t>Update USER_PREFS.md</a:t>
            </a:r>
          </a:p>
          <a:p>
            <a:pPr algn="ctr">
              <a:defRPr sz="1500" b="1">
                <a:solidFill>
                  <a:srgbClr val="92400E"/>
                </a:solidFill>
              </a:defRPr>
            </a:pPr>
            <a:r>
              <a:t>with new invariants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1148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B21A8"/>
                </a:solidFill>
              </a:defRPr>
            </a:pPr>
            <a:r>
              <a:t>Resolve conflicts</a:t>
            </a:r>
          </a:p>
          <a:p>
            <a:pPr algn="ctr">
              <a:defRPr sz="1500" b="1">
                <a:solidFill>
                  <a:srgbClr val="6B21A8"/>
                </a:solidFill>
              </a:defRPr>
            </a:pPr>
            <a:r>
              <a:t>with existing prefs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No code snippets in preferences — they become stale as codebase evolves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961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Actively resolve contradictions when updating (e.g. camelCase vs snake_case)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888736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Information NOT stored in databases or multiple folders — stale data is impossible to clean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181344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• Progressively more effective without manual configuration by the developer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Pre-Finish Verification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Before calling finish(success=True), the agent MUST: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Re-read every modified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0574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Self code review — catch typos, forgotten brackets, context-wrong edits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Run lint, typecheck,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7432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Objective automated verification replaces subjective 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83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Check each user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290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Systematic comparison between task description and delivered 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If any check fails → keep 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1148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No finishing with known failures, no rationalizing failures as minor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54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3 retries without progress → rethink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00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Break repetitive loops — abandon failing approach for first principles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Web Research &amp; File Browsing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572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Two-Phase Approach:  COLLECT first  →  SYNTHESIZE second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Web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Visit AT LEAST 100 web 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Collect info into PWD/tmp/information-{id}.md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Then synthesize — think deeply, then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Counteracts anchoring bias on first few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Information file = auditable artifact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5212080" cy="3657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File Browsing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Read files into PWD/tmp/file-information-{id}.md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Collect WITHOUT much thinking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Extract facts: signatures, hierarchies, call 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Summary is smaller than raw files — saves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</a:defRPr>
            </a:pPr>
            <a:r>
              <a:t>• Prevents premature commitment to a plan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VS Code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Unique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VS Code Extension — Unique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417320"/>
          </a:xfrm>
          <a:prstGeom prst="roundRect">
            <a:avLst>
              <a:gd name="adj" fmla="val 4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spcAft>
                <a:spcPts val="400"/>
              </a:spcAft>
              <a:defRPr sz="2000" b="1">
                <a:solidFill>
                  <a:srgbClr val="065941"/>
                </a:solidFill>
              </a:defRPr>
            </a:pPr>
            <a:r>
              <a:t>Cross-Session Self-Improvement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USER_PREFS.md is read at start and updated at end of each task.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Agent accumulates project knowledge over time — no manual config needed.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Conflicts are actively resolved. No other IDE assistant does this.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728655" cy="14173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spcAft>
                <a:spcPts val="400"/>
              </a:spcAft>
              <a:defRPr sz="2000" b="1">
                <a:solidFill>
                  <a:srgbClr val="1E40AF"/>
                </a:solidFill>
              </a:defRPr>
            </a:pPr>
            <a:r>
              <a:t>Real-Time Budget Accountability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Input/output tokens, cache hits, dollar cost, elapsed time — updated every step.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Per-task and global budget ceilings with hard errors on overspend.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No other tool provides this level of cost transparency.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4173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spcAft>
                <a:spcPts val="400"/>
              </a:spcAft>
              <a:defRPr sz="2000" b="1">
                <a:solidFill>
                  <a:srgbClr val="92400E"/>
                </a:solidFill>
              </a:defRPr>
            </a:pPr>
            <a:r>
              <a:t>Integrated Browser Automation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Live browser preview in sidebar via Playwright + Chromium.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Navigate, click, type, scroll, screenshot — all programmatic.</a:t>
            </a:r>
          </a:p>
          <a:p>
            <a:pPr>
              <a:lnSpc>
                <a:spcPts val="2000"/>
              </a:lnSpc>
              <a:defRPr sz="1400">
                <a:solidFill>
                  <a:srgbClr val="374151"/>
                </a:solidFill>
              </a:defRPr>
            </a:pPr>
            <a:r>
              <a:t>Verify deployed apps, scrape docs, interact with CI dashboards.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Terminal Bench 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Evaluation Setup — Terminal Bench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89 diverse terminal-based tasks (compilers, servers, crypto, ML, emulation, 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057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Each task runs in an isolated Docker container with automatic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5176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5 independent trials per task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5468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Claude Opus 4.6 as the underlying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65760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566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No benchmark-specific prompt modifications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1605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069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9 tasks hard-skipped (verified infeasible for Opus 4.6) — counted as failures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Harbor framework for orchestration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16636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074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Evaluated on a 2025 MacBook Air 15"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Aggregate 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1554480"/>
          <a:ext cx="7619695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504895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1B2A4A"/>
                          </a:solidFill>
                        </a:defRPr>
                      </a:pPr>
                      <a:r>
                        <a:t>Total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2A4A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Overall pass rate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62.2%  (277 / 445)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pass@any (≥ 1/5)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78.7%  (70 / 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pass@all (5/5)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43.8%  (39 / 89)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Always-fail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Always-pass tasks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Mixed-result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Median cost / trial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$0.45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Mean cost / 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$0.90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Median duration / trial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202s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Mean duration / 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74151"/>
                          </a:solidFill>
                        </a:defRPr>
                      </a:pPr>
                      <a:r>
                        <a:t>446s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Comparison with Other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91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Claude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4242816" cy="54864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54496" y="201168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6B7280"/>
                </a:solidFill>
              </a:defRPr>
            </a:pPr>
            <a:r>
              <a:t>58.0%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80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Cursor Composer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200400"/>
            <a:ext cx="4513478" cy="54864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5158" y="32004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6B7280"/>
                </a:solidFill>
              </a:defRPr>
            </a:pPr>
            <a:r>
              <a:t>61.7%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069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KISS Sorcar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389120"/>
            <a:ext cx="4550054" cy="54864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1734" y="438912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62.2%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03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All using Claude Opus 4.6 as the underlying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235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Cursor Composer 2 uses a custom fine-tuned model with large-scale 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• KISS Sorcar: no fine-tuning, no benchmark-specific optimizations, ~1,850 lines of Python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Task-Level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1148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Consistently Solved  (39/89)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Cryptanalysis, chess, git operations, server config,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data processing, Coq proofs, ML inference, QEMU startup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→ Breadth across systems, security, data, formal methods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728655" cy="41148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Consistently Failed  (19/89)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Graphical/multimedia tasks (video, Windows 3.11 GUI)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Resource-intensive builds (CompCert, Doom for MIPS)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Niche domains (DNA insertion, OCaml GC, polyglot)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4114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Mixed Results  (31/89)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write-compressor (3/5), crack-7z-hash (4/5)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Non-determinism in model reasoning or timing</a:t>
            </a:r>
          </a:p>
          <a:p>
            <a:pPr>
              <a:lnSpc>
                <a:spcPts val="2200"/>
              </a:lnSpc>
              <a:defRPr sz="1500">
                <a:solidFill>
                  <a:srgbClr val="374151"/>
                </a:solidFill>
              </a:defRPr>
            </a:pPr>
            <a:r>
              <a:t>Some tasks at boundary of model capability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97880"/>
            <a:ext cx="10728655" cy="50292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300" b="0">
                <a:solidFill>
                  <a:srgbClr val="9F1239"/>
                </a:solidFill>
              </a:defRPr>
            </a:pPr>
            <a:r>
              <a:t>Note: Recent analysis found widespread cheating on Terminal Bench 2.0 — top 3 submissions commit harness-level cheating.</a:t>
            </a:r>
            <a:br/>
            <a:r>
              <a:t>Our results are cheat-free and honest.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Painless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A Real Development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Painless SE — Worktree Merge Redesign in 4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Developer never opens a source file, writes code, or runs tests manually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1: 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116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t>"Can you tell me what happens with git when a task finishes?"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77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reads source, returns structured 4-phase lifecycle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2: Redesign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017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t>"Change it to simply ask Commit and Merge or Discard"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383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modifies 6 files across Python &amp; TypeScript, removes manual_merge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3: 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023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t>"Why do modified files show up in Source Control?"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389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traces squash_merge_branch(), discovers deliberate git reset 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Step 4: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B2A4A"/>
                </a:solidFill>
              </a:defRPr>
            </a:pPr>
            <a:r>
              <a:t>"The review already happens in the worktree. Fix it."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394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→ Agent replaces git reset with conditional git commit. All 104 tests pass.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06440"/>
            <a:ext cx="10728655" cy="548640"/>
          </a:xfrm>
          <a:prstGeom prst="roundRect">
            <a:avLst>
              <a:gd name="adj" fmla="val 5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400" b="0">
                <a:solidFill>
                  <a:srgbClr val="065941"/>
                </a:solidFill>
              </a:defRPr>
            </a:pPr>
            <a:r>
              <a:t>Entire cycle — understand, redesign, investigate, fix — via natural language.</a:t>
            </a:r>
            <a:br/>
            <a:r>
              <a:t>Worktree isolation + Chat persistence + Relentless continuation make this possible.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Quality Over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Quality Over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Weaker/cheaper models → discard &amp; retry → higher total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Using a capable model with proper validation is actually cheaper in aggregate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Frontier model + time to validate = dramatically less slop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Lint, typecheck, test before declaring success → consistently well-organized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Token costs and inference latencies will continue to 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Quality-first posture becomes increasingly practical 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▸  Built using itself — 4 months of continuous self-hosted stress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Agent-introduced bugs immediately impair its own ability to work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Related Work — Landscape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8686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bIns="9144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Code-Specialized Models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Code Llama, StarCoder, DeepSeek-Coder,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Claude Opus 4.6, Cursor Composer 2, Kimi K2.5, GLM-5.1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8655" cy="868680"/>
          </a:xfrm>
          <a:prstGeom prst="roundRect">
            <a:avLst>
              <a:gd name="adj" fmla="val 5000"/>
            </a:avLst>
          </a:prstGeom>
          <a:solidFill>
            <a:srgbClr val="DC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bIns="91440"/>
          <a:lstStyle/>
          <a:p>
            <a:pPr algn="ctr">
              <a:defRPr sz="1600" b="1">
                <a:solidFill>
                  <a:srgbClr val="065941"/>
                </a:solidFill>
              </a:defRPr>
            </a:pPr>
            <a:r>
              <a:t>Code Generation Agents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SWE-Agent, OpenHands, Agentless, Devin, Aider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KISS addresses single-session limitation + stronger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28655" cy="8686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bIns="91440"/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Multi-Agent Systems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ChatDev, MetaGPT, AutoGen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KISS: single agent with broad tools vs. role-playing specialists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10728655" cy="86868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bIns="91440"/>
          <a:lstStyle/>
          <a:p>
            <a:pPr algn="ctr">
              <a:defRPr sz="1600" b="1">
                <a:solidFill>
                  <a:srgbClr val="6B21A8"/>
                </a:solidFill>
              </a:defRPr>
            </a:pPr>
            <a:r>
              <a:t>ReAct &amp; Reasoning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ReAct, Toolformer, CoT, Tree of Thoughts, Reflexion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KISS: native function calling + continuation summaries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728655" cy="86868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bIns="91440"/>
          <a:lstStyle/>
          <a:p>
            <a:pPr algn="ctr">
              <a:defRPr sz="1600" b="1">
                <a:solidFill>
                  <a:srgbClr val="9F1239"/>
                </a:solidFill>
              </a:defRPr>
            </a:pPr>
            <a:r>
              <a:t>IDE Integration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GitHub Copilot, Cursor, Windsurf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</a:defRPr>
            </a:pPr>
            <a:r>
              <a:t>They do completion/single-turn; KISS does autonomous multi-step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4612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Key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581912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Simplicity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81912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~1,850 lines of Python beats systems with fine-tuning and RL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1226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Layered single-concern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12264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Each layer solves exactly one problem — compose for full power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42616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15184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System prompt = engineering 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42616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Read before write, test before fix, plan before execute, verify before finish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172968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45536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Quality &gt;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172968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Let the model validate — dramatically reduces AI slop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7588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Self-hosted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03320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Building with itself provides continuous stress testing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233672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62.2% on Terminal Bench 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33672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Outperforms Claude Code (58%) and Cursor Composer 2 (61.7%)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76402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365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Free &amp; open-source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64024"/>
            <a:ext cx="7040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</a:defRPr>
            </a:pPr>
            <a:r>
              <a:t>All you need is a model API key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The Golden Age of Experts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If you are an expert and know how to use frontier models effectively, you are the 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Opus 4.6 is more intelligent than anything we have encountered in the past.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We are the bottleneck — exploring what is possible.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Several academic research efforts will become obsolete.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People will write and customize their own software instead of relying on vendors.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We must forget much conventional wisdom to make big strides.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4151"/>
                </a:solidFill>
              </a:defRPr>
            </a:pPr>
            <a:r>
              <a:t>» In 3–5 years, expert knowledge will be incorporated into the best frontier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8655" cy="64008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defRPr sz="1500" b="0">
                <a:solidFill>
                  <a:srgbClr val="9F1239"/>
                </a:solidFill>
              </a:defRPr>
            </a:pPr>
            <a:r>
              <a:t>The biggest problem ahead may not be AI safety — it may be mental health.</a:t>
            </a:r>
            <a:br/>
            <a:r>
              <a:t>We need to address this before it becomes a crisis.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KISS Sorcar — Koushik Sen, UC Berkeley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An Important Advice — Automated Fraud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t>Use KISS Sorcar to identify issues in blogs, papers, and code 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8534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Courier New"/>
              </a:defRPr>
            </a:pPr>
            <a:r>
              <a:t>FRAUD DETECTION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103120"/>
            <a:ext cx="8534095" cy="3840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Can you read &lt;&lt;url&gt;&gt;, and thoroughly and precisely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check for **wrong assumptions**, **cheating**,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**irreproducibility issues**, **fraud**,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**potential for cheating in evaluation**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and **security vulnerabilities**?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Use internet search extensively and do not believe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what people say -- verify them yourself.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Do not hesitate to download code and run them to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validate results.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For security vulnerabilities, create a POC and test it.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Generate an html report in PWD/sorcar_reported_frauds/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and open in the user's default browser.</a:t>
            </a:r>
          </a:p>
          <a:p>
            <a:pPr>
              <a:lnSpc>
                <a:spcPts val="1800"/>
              </a:lnSpc>
              <a:defRPr sz="1300">
                <a:solidFill>
                  <a:srgbClr val="374151"/>
                </a:solidFill>
                <a:latin typeface="Courier New"/>
              </a:defRPr>
            </a:pPr>
            <a:r>
              <a:t>Thoroughly fact check everything you claim in the report.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332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>
                <a:solidFill>
                  <a:srgbClr val="BFDBFE"/>
                </a:solidFill>
              </a:defRPr>
            </a:pPr>
            <a:r>
              <a:t>Koushik Sen  •  UC Berkeley  •  ksen@berkeley.edu</a:t>
            </a:r>
          </a:p>
          <a:p>
            <a:pPr algn="ctr">
              <a:spcAft>
                <a:spcPts val="600"/>
              </a:spcAft>
              <a:defRPr sz="1800">
                <a:solidFill>
                  <a:srgbClr val="BFDBFE"/>
                </a:solidFill>
              </a:defRPr>
            </a:pPr>
            <a:r>
              <a:t>https://github.com/ksenxx/kiss_ai</a:t>
            </a:r>
          </a:p>
          <a:p>
            <a:pPr algn="ctr">
              <a:spcAft>
                <a:spcPts val="600"/>
              </a:spcAft>
              <a:defRPr sz="1800">
                <a:solidFill>
                  <a:srgbClr val="93C5FD"/>
                </a:solidFill>
              </a:defRPr>
            </a:pPr>
          </a:p>
          <a:p>
            <a:pPr algn="ctr">
              <a:spcAft>
                <a:spcPts val="600"/>
              </a:spcAft>
              <a:defRPr sz="1800">
                <a:solidFill>
                  <a:srgbClr val="93C5FD"/>
                </a:solidFill>
              </a:defRPr>
            </a:pPr>
            <a:r>
              <a:t>Free &amp; Open Source  •  VS Code Extension  •  Try it today!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Supported by: Accenture, Amazon, AMD, Anyscale, Broadcom, Google, IBM, Intel,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Intesa Sanpaolo, Lambda, Lightspeed, Mibura, NVIDIA, Samsung SDS, SAP, DoE, DARPA</a:t>
            </a:r>
          </a:p>
          <a:p>
            <a:pPr>
              <a:defRPr sz="800"/>
            </a:pP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Thanks to: Marius Momeu, Yogya Mehrotra, Debabrata Dash, Yiwei Hou, Kaiyao Ke,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Muxi Lyu, Anoop Mishra, Manish Shetty, Ion Stoica, Shangyin Tan, Hao Wang, Matei Zaharia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