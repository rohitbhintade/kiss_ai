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1B2A4A"/>
                </a:solidFill>
              </a:rPr>
              <a:t>KISS Sorcar</a:t>
            </a:r>
          </a:p>
          <a:p>
            <a:r>
              <a:rPr sz="2800">
                <a:solidFill>
                  <a:srgbClr val="2C3E6B"/>
                </a:solidFill>
              </a:rPr>
              <a:t>A Stupidly-Simple General-Purpose and
Software Engineering AI Assistant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8404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374151"/>
                </a:solidFill>
              </a:defRPr>
            </a:pPr>
            <a:r>
              <a:t>Koushik Sen</a:t>
            </a:r>
          </a:p>
          <a:p>
            <a:pPr>
              <a:defRPr sz="1800">
                <a:solidFill>
                  <a:srgbClr val="6B7280"/>
                </a:solidFill>
              </a:defRPr>
            </a:pPr>
            <a:r>
              <a:t>EECS Department, UC Berkeley</a:t>
            </a:r>
          </a:p>
          <a:p>
            <a:pPr>
              <a:defRPr sz="1600">
                <a:solidFill>
                  <a:srgbClr val="3B82F6"/>
                </a:solidFill>
              </a:defRPr>
            </a:pPr>
            <a:r>
              <a:t>ksen@berkeley.edu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303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i="1">
                <a:solidFill>
                  <a:srgbClr val="6B7280"/>
                </a:solidFill>
              </a:defRPr>
            </a:pPr>
            <a:r>
              <a:t>"Everything should be made as simple as possible, but not simpler." — Albert Einstein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603504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B82F6"/>
                </a:solidFill>
              </a:defRPr>
            </a:pPr>
            <a:r>
              <a:t>https://github.com/ksenxx/kiss_ai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Outline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645920"/>
            <a:ext cx="914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000" b="1">
                <a:solidFill>
                  <a:srgbClr val="3B82F6"/>
                </a:solidFill>
              </a:defRPr>
            </a:pPr>
            <a:r>
              <a:t>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1645920"/>
            <a:ext cx="8229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374151"/>
                </a:solidFill>
              </a:defRPr>
            </a:pPr>
            <a:r>
              <a:t>Motivation &amp; Problem Statement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240280"/>
            <a:ext cx="914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000" b="1">
                <a:solidFill>
                  <a:srgbClr val="3B82F6"/>
                </a:solidFill>
              </a:defRPr>
            </a:pPr>
            <a:r>
              <a:t>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240280"/>
            <a:ext cx="8229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374151"/>
                </a:solidFill>
              </a:defRPr>
            </a:pPr>
            <a:r>
              <a:t>The KISS Agent Framework — Five-Layer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34640"/>
            <a:ext cx="914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000" b="1">
                <a:solidFill>
                  <a:srgbClr val="3B82F6"/>
                </a:solidFill>
              </a:defRPr>
            </a:pPr>
            <a:r>
              <a:t>3.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834640"/>
            <a:ext cx="8229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374151"/>
                </a:solidFill>
              </a:defRPr>
            </a:pPr>
            <a:r>
              <a:t>The System Prompt — Engineering Discipline as Instructions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429000"/>
            <a:ext cx="914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000" b="1">
                <a:solidFill>
                  <a:srgbClr val="3B82F6"/>
                </a:solidFill>
              </a:defRPr>
            </a:pPr>
            <a:r>
              <a:t>4.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3429000"/>
            <a:ext cx="8229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374151"/>
                </a:solidFill>
              </a:defRPr>
            </a:pPr>
            <a:r>
              <a:t>VS Code Extension — Unique Features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023360"/>
            <a:ext cx="914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000" b="1">
                <a:solidFill>
                  <a:srgbClr val="3B82F6"/>
                </a:solidFill>
              </a:defRPr>
            </a:pPr>
            <a:r>
              <a:t>5.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4023360"/>
            <a:ext cx="8229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374151"/>
                </a:solidFill>
              </a:defRPr>
            </a:pPr>
            <a:r>
              <a:t>Evaluation on Terminal Bench 2.0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617720"/>
            <a:ext cx="914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000" b="1">
                <a:solidFill>
                  <a:srgbClr val="3B82F6"/>
                </a:solidFill>
              </a:defRPr>
            </a:pPr>
            <a:r>
              <a:t>6.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4617720"/>
            <a:ext cx="8229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374151"/>
                </a:solidFill>
              </a:defRPr>
            </a:pPr>
            <a:r>
              <a:t>Painless Software Engineering — A Case Study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212080"/>
            <a:ext cx="914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000" b="1">
                <a:solidFill>
                  <a:srgbClr val="3B82F6"/>
                </a:solidFill>
              </a:defRPr>
            </a:pPr>
            <a:r>
              <a:t>7.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5212080"/>
            <a:ext cx="8229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374151"/>
                </a:solidFill>
              </a:defRPr>
            </a:pPr>
            <a:r>
              <a:t>Related Work &amp; 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Motivation &amp;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>
                <a:solidFill>
                  <a:srgbClr val="BFDBFE"/>
                </a:solidFill>
              </a:defRPr>
            </a:pPr>
            <a:r>
              <a:t>Why do we need another AI assistant?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3246120"/>
            <a:ext cx="213329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Stubborn Gaps in Current AI Assistants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6459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B2A4A"/>
                </a:solidFill>
              </a:defRPr>
            </a:pPr>
            <a:r>
              <a:t>Finite Context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96596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B7280"/>
                </a:solidFill>
              </a:defRPr>
            </a:pPr>
            <a:r>
              <a:t>Single sessions cannot handle long-horizon tasks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560320"/>
            <a:ext cx="411480" cy="411480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5146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B2A4A"/>
                </a:solidFill>
              </a:defRPr>
            </a:pPr>
            <a:r>
              <a:t>Single-Mistake Derailment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83464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B7280"/>
                </a:solidFill>
              </a:defRPr>
            </a:pPr>
            <a:r>
              <a:t>One error can send the entire session off track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429000"/>
            <a:ext cx="411480" cy="41148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38328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B2A4A"/>
                </a:solidFill>
              </a:defRPr>
            </a:pPr>
            <a:r>
              <a:t>Dead-End Loops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7033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B7280"/>
                </a:solidFill>
              </a:defRPr>
            </a:pPr>
            <a:r>
              <a:t>Agents get stuck repeating the same failing approach</a:t>
            </a:r>
          </a:p>
        </p:txBody>
      </p:sp>
      <p:sp>
        <p:nvSpPr>
          <p:cNvPr id="15" name="Oval 14"/>
          <p:cNvSpPr/>
          <p:nvPr/>
        </p:nvSpPr>
        <p:spPr>
          <a:xfrm>
            <a:off x="914400" y="429768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25196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B2A4A"/>
                </a:solidFill>
              </a:defRPr>
            </a:pPr>
            <a:r>
              <a:t>AI Slop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5720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B7280"/>
                </a:solidFill>
              </a:defRPr>
            </a:pPr>
            <a:r>
              <a:t>Low-quality, generic, hedging output that wastes tokens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166360"/>
            <a:ext cx="411480" cy="41148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12064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B2A4A"/>
                </a:solidFill>
              </a:defRPr>
            </a:pPr>
            <a:r>
              <a:t>Difficult Review &amp; Revert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44068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B7280"/>
                </a:solidFill>
              </a:defRPr>
            </a:pPr>
            <a:r>
              <a:t>Generated changes are hard to inspect and roll back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Our Approach: Keep It Simple, Stupid</a:t>
            </a:r>
          </a:p>
        </p:txBody>
      </p:sp>
      <p:sp>
        <p:nvSpPr>
          <p:cNvPr id="6" name="Rectangle 5"/>
          <p:cNvSpPr/>
          <p:nvPr/>
        </p:nvSpPr>
        <p:spPr>
          <a:xfrm rot="2700000">
            <a:off x="914400" y="1755648"/>
            <a:ext cx="137160" cy="1371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374151"/>
                </a:solidFill>
              </a:defRPr>
            </a:pPr>
            <a:r>
              <a:t>KISS Agent Framework: ~1,850 lines of Python</a:t>
            </a:r>
          </a:p>
        </p:txBody>
      </p:sp>
      <p:sp>
        <p:nvSpPr>
          <p:cNvPr id="8" name="Rectangle 7"/>
          <p:cNvSpPr/>
          <p:nvPr/>
        </p:nvSpPr>
        <p:spPr>
          <a:xfrm rot="2700000">
            <a:off x="914400" y="2350008"/>
            <a:ext cx="137160" cy="1371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24028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374151"/>
                </a:solidFill>
              </a:defRPr>
            </a:pPr>
            <a:r>
              <a:t>Five-layer agent hierarchy — each layer adds exactly one concern</a:t>
            </a:r>
          </a:p>
        </p:txBody>
      </p:sp>
      <p:sp>
        <p:nvSpPr>
          <p:cNvPr id="10" name="Rectangle 9"/>
          <p:cNvSpPr/>
          <p:nvPr/>
        </p:nvSpPr>
        <p:spPr>
          <a:xfrm rot="2700000">
            <a:off x="914400" y="2944368"/>
            <a:ext cx="137160" cy="1371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283464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374151"/>
                </a:solidFill>
              </a:defRPr>
            </a:pPr>
            <a:r>
              <a:t>Robust system prompt encoding engineering discipline</a:t>
            </a:r>
          </a:p>
        </p:txBody>
      </p:sp>
      <p:sp>
        <p:nvSpPr>
          <p:cNvPr id="12" name="Rectangle 11"/>
          <p:cNvSpPr/>
          <p:nvPr/>
        </p:nvSpPr>
        <p:spPr>
          <a:xfrm rot="2700000">
            <a:off x="914400" y="3538728"/>
            <a:ext cx="137160" cy="1371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342900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374151"/>
                </a:solidFill>
              </a:defRPr>
            </a:pPr>
            <a:r>
              <a:t>Quality over latency — let the model validate its own output</a:t>
            </a:r>
          </a:p>
        </p:txBody>
      </p:sp>
      <p:sp>
        <p:nvSpPr>
          <p:cNvPr id="14" name="Rectangle 13"/>
          <p:cNvSpPr/>
          <p:nvPr/>
        </p:nvSpPr>
        <p:spPr>
          <a:xfrm rot="2700000">
            <a:off x="914400" y="4133088"/>
            <a:ext cx="137160" cy="1371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02336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374151"/>
                </a:solidFill>
              </a:defRPr>
            </a:pPr>
            <a:r>
              <a:t>Built using itself — continuous self-hosted stress test</a:t>
            </a:r>
          </a:p>
        </p:txBody>
      </p:sp>
      <p:sp>
        <p:nvSpPr>
          <p:cNvPr id="16" name="Rectangle 15"/>
          <p:cNvSpPr/>
          <p:nvPr/>
        </p:nvSpPr>
        <p:spPr>
          <a:xfrm rot="2700000">
            <a:off x="914400" y="4727448"/>
            <a:ext cx="137160" cy="1371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461772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374151"/>
                </a:solidFill>
              </a:defRPr>
            </a:pPr>
            <a:r>
              <a:t>Free, open-source VS Code extension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The KISS Agent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>
                <a:solidFill>
                  <a:srgbClr val="BFDBFE"/>
                </a:solidFill>
              </a:defRPr>
            </a:pPr>
            <a:r>
              <a:t>A Five-Layer Agent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3246120"/>
            <a:ext cx="213329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Five-Layer Architecture Overview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24304" y="1554480"/>
            <a:ext cx="9144000" cy="77724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Layer 5: Worktree Sorcar Agent</a:t>
            </a:r>
            <a:r>
              <a:rPr sz="1500">
                <a:solidFill>
                  <a:srgbClr val="DBEAFE"/>
                </a:solidFill>
              </a:rPr>
              <a:t>    Git worktree isolation — branch per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96704" y="1554480"/>
            <a:ext cx="1188720" cy="7772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1400">
                <a:solidFill>
                  <a:srgbClr val="BFDBFE"/>
                </a:solidFill>
              </a:defRPr>
            </a:pPr>
            <a:r>
              <a:t>692 lines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24304" y="2441448"/>
            <a:ext cx="9144000" cy="777240"/>
          </a:xfrm>
          <a:prstGeom prst="roundRect">
            <a:avLst>
              <a:gd name="adj" fmla="val 10000"/>
            </a:avLst>
          </a:prstGeom>
          <a:solidFill>
            <a:srgbClr val="2C3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Layer 4: Chat Sorcar Agent</a:t>
            </a:r>
            <a:r>
              <a:rPr sz="1500">
                <a:solidFill>
                  <a:srgbClr val="DBEAFE"/>
                </a:solidFill>
              </a:rPr>
              <a:t>    Persistent multi-turn chat with history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96704" y="2441448"/>
            <a:ext cx="1188720" cy="7772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1400">
                <a:solidFill>
                  <a:srgbClr val="BFDBFE"/>
                </a:solidFill>
              </a:defRPr>
            </a:pPr>
            <a:r>
              <a:t>120 lines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24304" y="3328416"/>
            <a:ext cx="9144000" cy="777240"/>
          </a:xfrm>
          <a:prstGeom prst="roundRect">
            <a:avLst>
              <a:gd name="adj" fmla="val 10000"/>
            </a:avLst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Layer 3: Sorcar Agent</a:t>
            </a:r>
            <a:r>
              <a:rPr sz="1500">
                <a:solidFill>
                  <a:srgbClr val="DBEAFE"/>
                </a:solidFill>
              </a:rPr>
              <a:t>    Coding tools, browser, parallel sub-agents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96704" y="3328416"/>
            <a:ext cx="1188720" cy="7772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1400">
                <a:solidFill>
                  <a:srgbClr val="BFDBFE"/>
                </a:solidFill>
              </a:defRPr>
            </a:pPr>
            <a:r>
              <a:t>323 lines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24304" y="4215384"/>
            <a:ext cx="9144000" cy="777240"/>
          </a:xfrm>
          <a:prstGeom prst="roundRect">
            <a:avLst>
              <a:gd name="adj" fmla="val 1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Layer 2: Relentless Agent</a:t>
            </a:r>
            <a:r>
              <a:rPr sz="1500">
                <a:solidFill>
                  <a:srgbClr val="DBEAFE"/>
                </a:solidFill>
              </a:rPr>
              <a:t>    Auto continuation via summarization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96704" y="4215384"/>
            <a:ext cx="1188720" cy="7772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1400">
                <a:solidFill>
                  <a:srgbClr val="BFDBFE"/>
                </a:solidFill>
              </a:defRPr>
            </a:pPr>
            <a:r>
              <a:t>297 lines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24304" y="5102352"/>
            <a:ext cx="9144000" cy="777240"/>
          </a:xfrm>
          <a:prstGeom prst="roundRect">
            <a:avLst>
              <a:gd name="adj" fmla="val 10000"/>
            </a:avLst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Layer 1: KISS Agent</a:t>
            </a:r>
            <a:r>
              <a:rPr sz="1500">
                <a:solidFill>
                  <a:srgbClr val="DBEAFE"/>
                </a:solidFill>
              </a:rPr>
              <a:t>    Budget-tracked ReAct loop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96704" y="5102352"/>
            <a:ext cx="1188720" cy="7772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1400">
                <a:solidFill>
                  <a:srgbClr val="BFDBFE"/>
                </a:solidFill>
              </a:defRPr>
            </a:pPr>
            <a:r>
              <a:t>409 lines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304" y="60807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6B7280"/>
                </a:solidFill>
              </a:defRPr>
            </a:pPr>
            <a:r>
              <a:t>Total: ~1,850 lines of Python  •  Strict inheritance chain  •  Each layer delegates upward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Layer 1: KISS Agent — The Inner Execution Unit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2926080" cy="54864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600" b="1">
                <a:solidFill>
                  <a:srgbClr val="1B2A4A"/>
                </a:solidFill>
              </a:defRPr>
            </a:pPr>
            <a:r>
              <a:t>Native Function Calling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554480"/>
            <a:ext cx="749807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ts val="2000"/>
              </a:lnSpc>
              <a:defRPr sz="1500">
                <a:solidFill>
                  <a:srgbClr val="374151"/>
                </a:solidFill>
              </a:defRPr>
            </a:pPr>
            <a:r>
              <a:t>Tools registered as ordinary Python callables</a:t>
            </a:r>
          </a:p>
          <a:p>
            <a:pPr>
              <a:lnSpc>
                <a:spcPts val="2000"/>
              </a:lnSpc>
              <a:defRPr sz="1500">
                <a:solidFill>
                  <a:srgbClr val="374151"/>
                </a:solidFill>
              </a:defRPr>
            </a:pPr>
            <a:r>
              <a:t>OpenAI-compatible tool schema, cached at setup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331720"/>
            <a:ext cx="2926080" cy="54864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600" b="1">
                <a:solidFill>
                  <a:srgbClr val="1B2A4A"/>
                </a:solidFill>
              </a:defRPr>
            </a:pPr>
            <a:r>
              <a:t>Budget Tracking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2331720"/>
            <a:ext cx="749807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ts val="2000"/>
              </a:lnSpc>
              <a:defRPr sz="1500">
                <a:solidFill>
                  <a:srgbClr val="374151"/>
                </a:solidFill>
              </a:defRPr>
            </a:pPr>
            <a:r>
              <a:t>Per-step token counting &amp; dollar cost computation</a:t>
            </a:r>
          </a:p>
          <a:p>
            <a:pPr>
              <a:lnSpc>
                <a:spcPts val="2000"/>
              </a:lnSpc>
              <a:defRPr sz="1500">
                <a:solidFill>
                  <a:srgbClr val="374151"/>
                </a:solidFill>
              </a:defRPr>
            </a:pPr>
            <a:r>
              <a:t>Per-agent budget + global budget (thread-safe)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108960"/>
            <a:ext cx="2926080" cy="54864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600" b="1">
                <a:solidFill>
                  <a:srgbClr val="1B2A4A"/>
                </a:solidFill>
              </a:defRPr>
            </a:pPr>
            <a:r>
              <a:t>Error Resilience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3108960"/>
            <a:ext cx="749807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ts val="2000"/>
              </a:lnSpc>
              <a:defRPr sz="1500">
                <a:solidFill>
                  <a:srgbClr val="374151"/>
                </a:solidFill>
              </a:defRPr>
            </a:pPr>
            <a:r>
              <a:t>Retries transient API errors (rate limits, server errors)</a:t>
            </a:r>
          </a:p>
          <a:p>
            <a:pPr>
              <a:lnSpc>
                <a:spcPts val="2000"/>
              </a:lnSpc>
              <a:defRPr sz="1500">
                <a:solidFill>
                  <a:srgbClr val="374151"/>
                </a:solidFill>
              </a:defRPr>
            </a:pPr>
            <a:r>
              <a:t>Immediate raise on non-retryable errors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86200"/>
            <a:ext cx="2926080" cy="54864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600" b="1">
                <a:solidFill>
                  <a:srgbClr val="1B2A4A"/>
                </a:solidFill>
              </a:defRPr>
            </a:pPr>
            <a:r>
              <a:t>Non-Agentic Mode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886200"/>
            <a:ext cx="749807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ts val="2000"/>
              </a:lnSpc>
              <a:defRPr sz="1500">
                <a:solidFill>
                  <a:srgbClr val="374151"/>
                </a:solidFill>
              </a:defRPr>
            </a:pPr>
            <a:r>
              <a:t>Single generation without ReAct loop</a:t>
            </a:r>
          </a:p>
          <a:p>
            <a:pPr>
              <a:lnSpc>
                <a:spcPts val="2000"/>
              </a:lnSpc>
              <a:defRPr sz="1500">
                <a:solidFill>
                  <a:srgbClr val="374151"/>
                </a:solidFill>
              </a:defRPr>
            </a:pPr>
            <a:r>
              <a:t>Useful for summarization &amp; Q/A sub-tasks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663440"/>
            <a:ext cx="2926080" cy="54864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600" b="1">
                <a:solidFill>
                  <a:srgbClr val="1B2A4A"/>
                </a:solidFill>
              </a:defRPr>
            </a:pPr>
            <a:r>
              <a:t>Stateless Across Runs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4663440"/>
            <a:ext cx="749807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ts val="2000"/>
              </a:lnSpc>
              <a:defRPr sz="1500">
                <a:solidFill>
                  <a:srgbClr val="374151"/>
                </a:solidFill>
              </a:defRPr>
            </a:pPr>
            <a:r>
              <a:t>Each run() resets conversation, counters, tool registry</a:t>
            </a:r>
          </a:p>
          <a:p>
            <a:pPr>
              <a:lnSpc>
                <a:spcPts val="2000"/>
              </a:lnSpc>
              <a:defRPr sz="1500">
                <a:solidFill>
                  <a:srgbClr val="374151"/>
                </a:solidFill>
              </a:defRPr>
            </a:pPr>
            <a:r>
              <a:t>Safe to reuse a single instance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KISS Agent — A Complete Agent in 10 Lines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1554480"/>
            <a:ext cx="9448495" cy="411480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ts val="1800"/>
              </a:lnSpc>
              <a:defRPr sz="1300">
                <a:solidFill>
                  <a:srgbClr val="E2E8F0"/>
                </a:solidFill>
                <a:latin typeface="Courier New"/>
              </a:defRPr>
            </a:pPr>
            <a:r>
              <a:rPr lang="en-US" sz="1300" dirty="0">
                <a:solidFill>
                  <a:srgbClr val="C678DD"/>
                </a:solidFill>
                <a:latin typeface="Courier New"/>
              </a:rPr>
              <a:t>from</a:t>
            </a:r>
            <a:r>
              <a:rPr lang="en-US" sz="1300" dirty="0">
                <a:solidFill>
                  <a:srgbClr val="E2E8F0"/>
                </a:solidFill>
                <a:latin typeface="Courier New"/>
              </a:rPr>
              <a:t> kiss.core.kiss_agent </a:t>
            </a:r>
            <a:r>
              <a:rPr lang="en-US" sz="1300" dirty="0">
                <a:solidFill>
                  <a:srgbClr val="C678DD"/>
                </a:solidFill>
                <a:latin typeface="Courier New"/>
              </a:rPr>
              <a:t>import</a:t>
            </a:r>
            <a:r>
              <a:rPr lang="en-US" sz="1300" dirty="0">
                <a:solidFill>
                  <a:srgbClr val="E2E8F0"/>
                </a:solidFill>
                <a:latin typeface="Courier New"/>
              </a:rPr>
              <a:t> KISSAgent</a:t>
            </a:r>
          </a:p>
          <a:p>
            <a:pPr algn="l">
              <a:lnSpc>
                <a:spcPts val="1800"/>
              </a:lnSpc>
              <a:defRPr sz="1300">
                <a:solidFill>
                  <a:srgbClr val="E2E8F0"/>
                </a:solidFill>
                <a:latin typeface="Courier New"/>
              </a:defRPr>
            </a:pPr>
            <a:endParaRPr sz="1300">
              <a:solidFill>
                <a:srgbClr val="E2E8F0"/>
              </a:solidFill>
              <a:latin typeface="Courier New"/>
            </a:endParaRPr>
          </a:p>
          <a:p>
            <a:pPr algn="l">
              <a:lnSpc>
                <a:spcPts val="1800"/>
              </a:lnSpc>
              <a:defRPr sz="1300">
                <a:solidFill>
                  <a:srgbClr val="E2E8F0"/>
                </a:solidFill>
                <a:latin typeface="Courier New"/>
              </a:defRPr>
            </a:pPr>
            <a:r>
              <a:rPr lang="en-US" sz="1300" dirty="0">
                <a:solidFill>
                  <a:srgbClr val="C678DD"/>
                </a:solidFill>
                <a:latin typeface="Courier New"/>
              </a:rPr>
              <a:t>def</a:t>
            </a:r>
            <a:r>
              <a:rPr lang="en-US" sz="1300" dirty="0">
                <a:solidFill>
                  <a:srgbClr val="E2E8F0"/>
                </a:solidFill>
                <a:latin typeface="Courier New"/>
              </a:rPr>
              <a:t> </a:t>
            </a:r>
            <a:r>
              <a:rPr lang="en-US" sz="1300" dirty="0">
                <a:solidFill>
                  <a:srgbClr val="61AFEF"/>
                </a:solidFill>
                <a:latin typeface="Courier New"/>
              </a:rPr>
              <a:t>calculate</a:t>
            </a:r>
            <a:r>
              <a:rPr lang="en-US" sz="1300" dirty="0">
                <a:solidFill>
                  <a:srgbClr val="ABB2BF"/>
                </a:solidFill>
                <a:latin typeface="Courier New"/>
              </a:rPr>
              <a:t>(</a:t>
            </a:r>
            <a:r>
              <a:rPr lang="en-US" sz="1300" dirty="0">
                <a:solidFill>
                  <a:srgbClr val="E2E8F0"/>
                </a:solidFill>
                <a:latin typeface="Courier New"/>
              </a:rPr>
              <a:t>expression</a:t>
            </a:r>
            <a:r>
              <a:rPr lang="en-US" sz="1300" dirty="0">
                <a:solidFill>
                  <a:srgbClr val="ABB2BF"/>
                </a:solidFill>
                <a:latin typeface="Courier New"/>
              </a:rPr>
              <a:t>:</a:t>
            </a:r>
            <a:r>
              <a:rPr lang="en-US" sz="1300" dirty="0">
                <a:solidFill>
                  <a:srgbClr val="E2E8F0"/>
                </a:solidFill>
                <a:latin typeface="Courier New"/>
              </a:rPr>
              <a:t> </a:t>
            </a:r>
            <a:r>
              <a:rPr lang="en-US" sz="1300" dirty="0">
                <a:solidFill>
                  <a:srgbClr val="61AFEF"/>
                </a:solidFill>
                <a:latin typeface="Courier New"/>
              </a:rPr>
              <a:t>str</a:t>
            </a:r>
            <a:r>
              <a:rPr lang="en-US" sz="1300" dirty="0">
                <a:solidFill>
                  <a:srgbClr val="ABB2BF"/>
                </a:solidFill>
                <a:latin typeface="Courier New"/>
              </a:rPr>
              <a:t>)</a:t>
            </a:r>
            <a:r>
              <a:rPr lang="en-US" sz="1300" dirty="0">
                <a:solidFill>
                  <a:srgbClr val="E2E8F0"/>
                </a:solidFill>
                <a:latin typeface="Courier New"/>
              </a:rPr>
              <a:t> </a:t>
            </a:r>
            <a:r>
              <a:rPr lang="en-US" sz="1300" dirty="0">
                <a:solidFill>
                  <a:srgbClr val="56B6C2"/>
                </a:solidFill>
                <a:latin typeface="Courier New"/>
              </a:rPr>
              <a:t>-&gt;</a:t>
            </a:r>
            <a:r>
              <a:rPr lang="en-US" sz="1300" dirty="0">
                <a:solidFill>
                  <a:srgbClr val="E2E8F0"/>
                </a:solidFill>
                <a:latin typeface="Courier New"/>
              </a:rPr>
              <a:t> </a:t>
            </a:r>
            <a:r>
              <a:rPr lang="en-US" sz="1300" dirty="0">
                <a:solidFill>
                  <a:srgbClr val="61AFEF"/>
                </a:solidFill>
                <a:latin typeface="Courier New"/>
              </a:rPr>
              <a:t>str</a:t>
            </a:r>
            <a:r>
              <a:rPr lang="en-US" sz="1300" dirty="0">
                <a:solidFill>
                  <a:srgbClr val="ABB2BF"/>
                </a:solidFill>
                <a:latin typeface="Courier New"/>
              </a:rPr>
              <a:t>:</a:t>
            </a:r>
          </a:p>
          <a:p>
            <a:pPr algn="l">
              <a:lnSpc>
                <a:spcPts val="1800"/>
              </a:lnSpc>
              <a:defRPr sz="1300">
                <a:solidFill>
                  <a:srgbClr val="E2E8F0"/>
                </a:solidFill>
                <a:latin typeface="Courier New"/>
              </a:defRPr>
            </a:pPr>
            <a:r>
              <a:rPr lang="en-US" sz="1300" dirty="0">
                <a:solidFill>
                  <a:srgbClr val="E2E8F0"/>
                </a:solidFill>
                <a:latin typeface="Courier New"/>
              </a:rPr>
              <a:t>    </a:t>
            </a:r>
            <a:r>
              <a:rPr lang="en-US" sz="1300" dirty="0">
                <a:solidFill>
                  <a:srgbClr val="98C379"/>
                </a:solidFill>
                <a:latin typeface="Courier New"/>
              </a:rPr>
              <a:t>"""Evaluate a math expression."""</a:t>
            </a:r>
          </a:p>
          <a:p>
            <a:pPr algn="l">
              <a:lnSpc>
                <a:spcPts val="1800"/>
              </a:lnSpc>
              <a:defRPr sz="1300">
                <a:solidFill>
                  <a:srgbClr val="E2E8F0"/>
                </a:solidFill>
                <a:latin typeface="Courier New"/>
              </a:defRPr>
            </a:pPr>
            <a:r>
              <a:rPr lang="en-US" sz="1300" dirty="0">
                <a:solidFill>
                  <a:srgbClr val="E2E8F0"/>
                </a:solidFill>
                <a:latin typeface="Courier New"/>
              </a:rPr>
              <a:t>    </a:t>
            </a:r>
            <a:r>
              <a:rPr lang="en-US" sz="1300" dirty="0">
                <a:solidFill>
                  <a:srgbClr val="C678DD"/>
                </a:solidFill>
                <a:latin typeface="Courier New"/>
              </a:rPr>
              <a:t>return</a:t>
            </a:r>
            <a:r>
              <a:rPr lang="en-US" sz="1300" dirty="0">
                <a:solidFill>
                  <a:srgbClr val="E2E8F0"/>
                </a:solidFill>
                <a:latin typeface="Courier New"/>
              </a:rPr>
              <a:t> </a:t>
            </a:r>
            <a:r>
              <a:rPr lang="en-US" sz="1300" dirty="0">
                <a:solidFill>
                  <a:srgbClr val="61AFEF"/>
                </a:solidFill>
                <a:latin typeface="Courier New"/>
              </a:rPr>
              <a:t>str</a:t>
            </a:r>
            <a:r>
              <a:rPr lang="en-US" sz="1300" dirty="0">
                <a:solidFill>
                  <a:srgbClr val="ABB2BF"/>
                </a:solidFill>
                <a:latin typeface="Courier New"/>
              </a:rPr>
              <a:t>(</a:t>
            </a:r>
            <a:r>
              <a:rPr lang="en-US" sz="1300" dirty="0">
                <a:solidFill>
                  <a:srgbClr val="61AFEF"/>
                </a:solidFill>
                <a:latin typeface="Courier New"/>
              </a:rPr>
              <a:t>eval</a:t>
            </a:r>
            <a:r>
              <a:rPr lang="en-US" sz="1300" dirty="0">
                <a:solidFill>
                  <a:srgbClr val="ABB2BF"/>
                </a:solidFill>
                <a:latin typeface="Courier New"/>
              </a:rPr>
              <a:t>(</a:t>
            </a:r>
            <a:r>
              <a:rPr lang="en-US" sz="1300" dirty="0">
                <a:solidFill>
                  <a:srgbClr val="E2E8F0"/>
                </a:solidFill>
                <a:latin typeface="Courier New"/>
              </a:rPr>
              <a:t>expression</a:t>
            </a:r>
            <a:r>
              <a:rPr lang="en-US" sz="1300" dirty="0">
                <a:solidFill>
                  <a:srgbClr val="ABB2BF"/>
                </a:solidFill>
                <a:latin typeface="Courier New"/>
              </a:rPr>
              <a:t>))</a:t>
            </a:r>
          </a:p>
          <a:p>
            <a:pPr algn="l">
              <a:lnSpc>
                <a:spcPts val="1800"/>
              </a:lnSpc>
              <a:defRPr sz="1300">
                <a:solidFill>
                  <a:srgbClr val="E2E8F0"/>
                </a:solidFill>
                <a:latin typeface="Courier New"/>
              </a:defRPr>
            </a:pPr>
            <a:endParaRPr sz="1300">
              <a:solidFill>
                <a:srgbClr val="E2E8F0"/>
              </a:solidFill>
              <a:latin typeface="Courier New"/>
            </a:endParaRPr>
          </a:p>
          <a:p>
            <a:pPr algn="l">
              <a:lnSpc>
                <a:spcPts val="1800"/>
              </a:lnSpc>
              <a:defRPr sz="1300">
                <a:solidFill>
                  <a:srgbClr val="E2E8F0"/>
                </a:solidFill>
                <a:latin typeface="Courier New"/>
              </a:defRPr>
            </a:pPr>
            <a:r>
              <a:rPr lang="en-US" sz="1300" dirty="0">
                <a:solidFill>
                  <a:srgbClr val="E2E8F0"/>
                </a:solidFill>
                <a:latin typeface="Courier New"/>
              </a:rPr>
              <a:t>agent </a:t>
            </a:r>
            <a:r>
              <a:rPr lang="en-US" sz="1300" dirty="0">
                <a:solidFill>
                  <a:srgbClr val="56B6C2"/>
                </a:solidFill>
                <a:latin typeface="Courier New"/>
              </a:rPr>
              <a:t>=</a:t>
            </a:r>
            <a:r>
              <a:rPr lang="en-US" sz="1300" dirty="0">
                <a:solidFill>
                  <a:srgbClr val="E2E8F0"/>
                </a:solidFill>
                <a:latin typeface="Courier New"/>
              </a:rPr>
              <a:t> KISSAgent</a:t>
            </a:r>
            <a:r>
              <a:rPr lang="en-US" sz="1300" dirty="0">
                <a:solidFill>
                  <a:srgbClr val="ABB2BF"/>
                </a:solidFill>
                <a:latin typeface="Courier New"/>
              </a:rPr>
              <a:t>(</a:t>
            </a:r>
            <a:r>
              <a:rPr lang="en-US" sz="1300" dirty="0">
                <a:solidFill>
                  <a:srgbClr val="E2E8F0"/>
                </a:solidFill>
                <a:latin typeface="Courier New"/>
              </a:rPr>
              <a:t>name</a:t>
            </a:r>
            <a:r>
              <a:rPr lang="en-US" sz="1300" dirty="0">
                <a:solidFill>
                  <a:srgbClr val="56B6C2"/>
                </a:solidFill>
                <a:latin typeface="Courier New"/>
              </a:rPr>
              <a:t>=</a:t>
            </a:r>
            <a:r>
              <a:rPr lang="en-US" sz="1300" dirty="0">
                <a:solidFill>
                  <a:srgbClr val="98C379"/>
                </a:solidFill>
                <a:latin typeface="Courier New"/>
              </a:rPr>
              <a:t>"Math Buddy"</a:t>
            </a:r>
            <a:r>
              <a:rPr lang="en-US" sz="1300" dirty="0">
                <a:solidFill>
                  <a:srgbClr val="ABB2BF"/>
                </a:solidFill>
                <a:latin typeface="Courier New"/>
              </a:rPr>
              <a:t>)</a:t>
            </a:r>
          </a:p>
          <a:p>
            <a:pPr algn="l">
              <a:lnSpc>
                <a:spcPts val="1800"/>
              </a:lnSpc>
              <a:defRPr sz="1300">
                <a:solidFill>
                  <a:srgbClr val="E2E8F0"/>
                </a:solidFill>
                <a:latin typeface="Courier New"/>
              </a:defRPr>
            </a:pPr>
            <a:r>
              <a:rPr lang="en-US" sz="1300" dirty="0">
                <a:solidFill>
                  <a:srgbClr val="E2E8F0"/>
                </a:solidFill>
                <a:latin typeface="Courier New"/>
              </a:rPr>
              <a:t>result </a:t>
            </a:r>
            <a:r>
              <a:rPr lang="en-US" sz="1300" dirty="0">
                <a:solidFill>
                  <a:srgbClr val="56B6C2"/>
                </a:solidFill>
                <a:latin typeface="Courier New"/>
              </a:rPr>
              <a:t>=</a:t>
            </a:r>
            <a:r>
              <a:rPr lang="en-US" sz="1300" dirty="0">
                <a:solidFill>
                  <a:srgbClr val="E2E8F0"/>
                </a:solidFill>
                <a:latin typeface="Courier New"/>
              </a:rPr>
              <a:t> agent</a:t>
            </a:r>
            <a:r>
              <a:rPr lang="en-US" sz="1300" dirty="0">
                <a:solidFill>
                  <a:srgbClr val="56B6C2"/>
                </a:solidFill>
                <a:latin typeface="Courier New"/>
              </a:rPr>
              <a:t>.</a:t>
            </a:r>
            <a:r>
              <a:rPr lang="en-US" sz="1300" dirty="0">
                <a:solidFill>
                  <a:srgbClr val="E2E8F0"/>
                </a:solidFill>
                <a:latin typeface="Courier New"/>
              </a:rPr>
              <a:t>run</a:t>
            </a:r>
            <a:r>
              <a:rPr lang="en-US" sz="1300" dirty="0">
                <a:solidFill>
                  <a:srgbClr val="ABB2BF"/>
                </a:solidFill>
                <a:latin typeface="Courier New"/>
              </a:rPr>
              <a:t>(</a:t>
            </a:r>
          </a:p>
          <a:p>
            <a:pPr algn="l">
              <a:lnSpc>
                <a:spcPts val="1800"/>
              </a:lnSpc>
              <a:defRPr sz="1300">
                <a:solidFill>
                  <a:srgbClr val="E2E8F0"/>
                </a:solidFill>
                <a:latin typeface="Courier New"/>
              </a:defRPr>
            </a:pPr>
            <a:r>
              <a:rPr lang="en-US" sz="1300" dirty="0">
                <a:solidFill>
                  <a:srgbClr val="E2E8F0"/>
                </a:solidFill>
                <a:latin typeface="Courier New"/>
              </a:rPr>
              <a:t>    model_name</a:t>
            </a:r>
            <a:r>
              <a:rPr lang="en-US" sz="1300" dirty="0">
                <a:solidFill>
                  <a:srgbClr val="56B6C2"/>
                </a:solidFill>
                <a:latin typeface="Courier New"/>
              </a:rPr>
              <a:t>=</a:t>
            </a:r>
            <a:r>
              <a:rPr lang="en-US" sz="1300" dirty="0">
                <a:solidFill>
                  <a:srgbClr val="98C379"/>
                </a:solidFill>
                <a:latin typeface="Courier New"/>
              </a:rPr>
              <a:t>"gemini-2.5-flash"</a:t>
            </a:r>
            <a:r>
              <a:rPr lang="en-US" sz="1300" dirty="0">
                <a:solidFill>
                  <a:srgbClr val="ABB2BF"/>
                </a:solidFill>
                <a:latin typeface="Courier New"/>
              </a:rPr>
              <a:t>,</a:t>
            </a:r>
          </a:p>
          <a:p>
            <a:pPr algn="l">
              <a:lnSpc>
                <a:spcPts val="1800"/>
              </a:lnSpc>
              <a:defRPr sz="1300">
                <a:solidFill>
                  <a:srgbClr val="E2E8F0"/>
                </a:solidFill>
                <a:latin typeface="Courier New"/>
              </a:defRPr>
            </a:pPr>
            <a:r>
              <a:rPr lang="en-US" sz="1300" dirty="0">
                <a:solidFill>
                  <a:srgbClr val="E2E8F0"/>
                </a:solidFill>
                <a:latin typeface="Courier New"/>
              </a:rPr>
              <a:t>    prompt_template</a:t>
            </a:r>
            <a:r>
              <a:rPr lang="en-US" sz="1300" dirty="0">
                <a:solidFill>
                  <a:srgbClr val="56B6C2"/>
                </a:solidFill>
                <a:latin typeface="Courier New"/>
              </a:rPr>
              <a:t>=</a:t>
            </a:r>
            <a:r>
              <a:rPr lang="en-US" sz="1300" dirty="0">
                <a:solidFill>
                  <a:srgbClr val="98C379"/>
                </a:solidFill>
                <a:latin typeface="Courier New"/>
              </a:rPr>
              <a:t>"Calculate: </a:t>
            </a:r>
            <a:r>
              <a:rPr lang="en-US" sz="1300" dirty="0">
                <a:solidFill>
                  <a:srgbClr val="D19A66"/>
                </a:solidFill>
                <a:latin typeface="Courier New"/>
              </a:rPr>
              <a:t>{question}</a:t>
            </a:r>
            <a:r>
              <a:rPr lang="en-US" sz="1300" dirty="0">
                <a:solidFill>
                  <a:srgbClr val="98C379"/>
                </a:solidFill>
                <a:latin typeface="Courier New"/>
              </a:rPr>
              <a:t>"</a:t>
            </a:r>
            <a:r>
              <a:rPr lang="en-US" sz="1300" dirty="0">
                <a:solidFill>
                  <a:srgbClr val="ABB2BF"/>
                </a:solidFill>
                <a:latin typeface="Courier New"/>
              </a:rPr>
              <a:t>,</a:t>
            </a:r>
          </a:p>
          <a:p>
            <a:pPr algn="l">
              <a:lnSpc>
                <a:spcPts val="1800"/>
              </a:lnSpc>
              <a:defRPr sz="1300">
                <a:solidFill>
                  <a:srgbClr val="E2E8F0"/>
                </a:solidFill>
                <a:latin typeface="Courier New"/>
              </a:defRPr>
            </a:pPr>
            <a:r>
              <a:rPr lang="en-US" sz="1300" dirty="0">
                <a:solidFill>
                  <a:srgbClr val="E2E8F0"/>
                </a:solidFill>
                <a:latin typeface="Courier New"/>
              </a:rPr>
              <a:t>    arguments</a:t>
            </a:r>
            <a:r>
              <a:rPr lang="en-US" sz="1300" dirty="0">
                <a:solidFill>
                  <a:srgbClr val="56B6C2"/>
                </a:solidFill>
                <a:latin typeface="Courier New"/>
              </a:rPr>
              <a:t>=</a:t>
            </a:r>
            <a:r>
              <a:rPr lang="en-US" sz="1300" dirty="0">
                <a:solidFill>
                  <a:srgbClr val="ABB2BF"/>
                </a:solidFill>
                <a:latin typeface="Courier New"/>
              </a:rPr>
              <a:t>{</a:t>
            </a:r>
            <a:r>
              <a:rPr lang="en-US" sz="1300" dirty="0">
                <a:solidFill>
                  <a:srgbClr val="98C379"/>
                </a:solidFill>
                <a:latin typeface="Courier New"/>
              </a:rPr>
              <a:t>"question"</a:t>
            </a:r>
            <a:r>
              <a:rPr lang="en-US" sz="1300" dirty="0">
                <a:solidFill>
                  <a:srgbClr val="ABB2BF"/>
                </a:solidFill>
                <a:latin typeface="Courier New"/>
              </a:rPr>
              <a:t>:</a:t>
            </a:r>
            <a:r>
              <a:rPr lang="en-US" sz="1300" dirty="0">
                <a:solidFill>
                  <a:srgbClr val="E2E8F0"/>
                </a:solidFill>
                <a:latin typeface="Courier New"/>
              </a:rPr>
              <a:t> </a:t>
            </a:r>
            <a:r>
              <a:rPr lang="en-US" sz="1300" dirty="0">
                <a:solidFill>
                  <a:srgbClr val="98C379"/>
                </a:solidFill>
                <a:latin typeface="Courier New"/>
              </a:rPr>
              <a:t>"What is 15</a:t>
            </a:r>
            <a:r>
              <a:rPr lang="en-US" sz="1300" dirty="0">
                <a:solidFill>
                  <a:srgbClr val="D19A66"/>
                </a:solidFill>
                <a:latin typeface="Courier New"/>
              </a:rPr>
              <a:t>% o</a:t>
            </a:r>
            <a:r>
              <a:rPr lang="en-US" sz="1300" dirty="0">
                <a:solidFill>
                  <a:srgbClr val="98C379"/>
                </a:solidFill>
                <a:latin typeface="Courier New"/>
              </a:rPr>
              <a:t>f 847?"</a:t>
            </a:r>
            <a:r>
              <a:rPr lang="en-US" sz="1300" dirty="0">
                <a:solidFill>
                  <a:srgbClr val="ABB2BF"/>
                </a:solidFill>
                <a:latin typeface="Courier New"/>
              </a:rPr>
              <a:t>},</a:t>
            </a:r>
          </a:p>
          <a:p>
            <a:pPr algn="l">
              <a:lnSpc>
                <a:spcPts val="1800"/>
              </a:lnSpc>
              <a:defRPr sz="1300">
                <a:solidFill>
                  <a:srgbClr val="E2E8F0"/>
                </a:solidFill>
                <a:latin typeface="Courier New"/>
              </a:defRPr>
            </a:pPr>
            <a:r>
              <a:rPr lang="en-US" sz="1300" dirty="0">
                <a:solidFill>
                  <a:srgbClr val="E2E8F0"/>
                </a:solidFill>
                <a:latin typeface="Courier New"/>
              </a:rPr>
              <a:t>    tools</a:t>
            </a:r>
            <a:r>
              <a:rPr lang="en-US" sz="1300" dirty="0">
                <a:solidFill>
                  <a:srgbClr val="56B6C2"/>
                </a:solidFill>
                <a:latin typeface="Courier New"/>
              </a:rPr>
              <a:t>=</a:t>
            </a:r>
            <a:r>
              <a:rPr lang="en-US" sz="1300" dirty="0">
                <a:solidFill>
                  <a:srgbClr val="ABB2BF"/>
                </a:solidFill>
                <a:latin typeface="Courier New"/>
              </a:rPr>
              <a:t>[</a:t>
            </a:r>
            <a:r>
              <a:rPr lang="en-US" sz="1300" dirty="0">
                <a:solidFill>
                  <a:srgbClr val="E2E8F0"/>
                </a:solidFill>
                <a:latin typeface="Courier New"/>
              </a:rPr>
              <a:t>calculate</a:t>
            </a:r>
            <a:r>
              <a:rPr lang="en-US" sz="1300" dirty="0">
                <a:solidFill>
                  <a:srgbClr val="ABB2BF"/>
                </a:solidFill>
                <a:latin typeface="Courier New"/>
              </a:rPr>
              <a:t>]</a:t>
            </a:r>
          </a:p>
          <a:p>
            <a:pPr algn="l">
              <a:lnSpc>
                <a:spcPts val="1800"/>
              </a:lnSpc>
              <a:defRPr sz="1300">
                <a:solidFill>
                  <a:srgbClr val="E2E8F0"/>
                </a:solidFill>
                <a:latin typeface="Courier New"/>
              </a:defRPr>
            </a:pPr>
            <a:r>
              <a:rPr lang="en-US" sz="1300" dirty="0">
                <a:solidFill>
                  <a:srgbClr val="ABB2BF"/>
                </a:solidFill>
                <a:latin typeface="Courier New"/>
              </a:rPr>
              <a:t>)</a:t>
            </a:r>
          </a:p>
          <a:p>
            <a:pPr algn="l">
              <a:lnSpc>
                <a:spcPts val="1800"/>
              </a:lnSpc>
              <a:defRPr sz="1300">
                <a:solidFill>
                  <a:srgbClr val="E2E8F0"/>
                </a:solidFill>
                <a:latin typeface="Courier New"/>
              </a:defRPr>
            </a:pPr>
            <a:r>
              <a:rPr lang="en-US" sz="1300" dirty="0">
                <a:solidFill>
                  <a:srgbClr val="61AFEF"/>
                </a:solidFill>
                <a:latin typeface="Courier New"/>
              </a:rPr>
              <a:t>print</a:t>
            </a:r>
            <a:r>
              <a:rPr lang="en-US" sz="1300" dirty="0">
                <a:solidFill>
                  <a:srgbClr val="ABB2BF"/>
                </a:solidFill>
                <a:latin typeface="Courier New"/>
              </a:rPr>
              <a:t>(</a:t>
            </a:r>
            <a:r>
              <a:rPr lang="en-US" sz="1300" dirty="0">
                <a:solidFill>
                  <a:srgbClr val="E2E8F0"/>
                </a:solidFill>
                <a:latin typeface="Courier New"/>
              </a:rPr>
              <a:t>result</a:t>
            </a:r>
            <a:r>
              <a:rPr lang="en-US" sz="1300" dirty="0">
                <a:solidFill>
                  <a:srgbClr val="ABB2BF"/>
                </a:solidFill>
                <a:latin typeface="Courier New"/>
              </a:rPr>
              <a:t>)</a:t>
            </a:r>
            <a:r>
              <a:rPr lang="en-US" sz="1300" dirty="0">
                <a:solidFill>
                  <a:srgbClr val="E2E8F0"/>
                </a:solidFill>
                <a:latin typeface="Courier New"/>
              </a:rPr>
              <a:t>  </a:t>
            </a:r>
            <a:r>
              <a:rPr lang="en-US" sz="1300" dirty="0">
                <a:solidFill>
                  <a:srgbClr val="7F848E"/>
                </a:solidFill>
                <a:latin typeface="Courier New"/>
              </a:rPr>
              <a:t># 127.05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852160"/>
            <a:ext cx="94484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i="1">
                <a:solidFill>
                  <a:srgbClr val="6B7280"/>
                </a:solidFill>
              </a:defRPr>
            </a:pPr>
            <a:r>
              <a:t>The framework handles tool-schema generation, the ReAct loop, and budget tracking automatically.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Layer 2: Relentless Agent — Never Give 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6B7280"/>
                </a:solidFill>
              </a:defRPr>
            </a:pPr>
            <a:r>
              <a:t>Automatic continuation across sub-sessions via structured summarization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10728655" cy="731520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>
              <a:defRPr sz="1600" b="0">
                <a:solidFill>
                  <a:srgbClr val="92400E"/>
                </a:solidFill>
              </a:defRPr>
            </a:pPr>
            <a:r>
              <a:t>Key Insight: When a sub-session exhausts its context window, produce a</a:t>
            </a:r>
            <a:br/>
            <a:r>
              <a:t>structured chronological summary and resume in a fresh sub-session.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200400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31089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74151"/>
                </a:solidFill>
              </a:defRPr>
            </a:pPr>
            <a:r>
              <a:t>Continuation Protocol: finish(success, is_continue, summary) → fresh sub-session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703320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361188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74151"/>
                </a:solidFill>
              </a:defRPr>
            </a:pPr>
            <a:r>
              <a:t>Chronological summaries with code snippets dramatically improve coherence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206240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411480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74151"/>
                </a:solidFill>
              </a:defRPr>
            </a:pPr>
            <a:r>
              <a:t>Forced Continuation: crashed sessions are summarized by a separate agent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4709160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461772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74151"/>
                </a:solidFill>
              </a:defRPr>
            </a:pPr>
            <a:r>
              <a:t>Near-budget-end instruction forces self-continuation before hitting step limit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5212080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0160" y="512064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74151"/>
                </a:solidFill>
              </a:defRPr>
            </a:pPr>
            <a:r>
              <a:t>Naïve "summarize context" produces poor continuations — specificity matters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Relentless Agent — Continuation Protocol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4937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B7280"/>
                </a:solidFill>
                <a:latin typeface="Courier New"/>
              </a:defRPr>
            </a:pPr>
            <a:r>
              <a:t>CONTINUATION PROMPT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20240"/>
            <a:ext cx="4937760" cy="3200400"/>
          </a:xfrm>
          <a:prstGeom prst="roundRect">
            <a:avLst>
              <a:gd name="adj" fmla="val 2000"/>
            </a:avLst>
          </a:prstGeom>
          <a:solidFill>
            <a:srgbClr val="F8FA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# Task Progress (Continuation {continuation_number})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{progress_text}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# Continue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- Complete the rest of the task.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- **DON'T** redo completed work.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- If you have been retrying the same approach without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  progress, step back and rethink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212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B7280"/>
                </a:solidFill>
                <a:latin typeface="Courier New"/>
              </a:defRPr>
            </a:pPr>
            <a:r>
              <a:t>SUMMARIZER PROMPT (on crash)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920240"/>
            <a:ext cx="5212080" cy="3200400"/>
          </a:xfrm>
          <a:prstGeom prst="roundRect">
            <a:avLst>
              <a:gd name="adj" fmla="val 2000"/>
            </a:avLst>
          </a:prstGeom>
          <a:solidFill>
            <a:srgbClr val="F8FA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# Summarizer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The trajectory of the agent is stored in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the file: {trajectory_file}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# Instructions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- Read the trajectory file and analyze it.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- Return a precise chronologically-ordered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  list of things the agent did with the reason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  for doing that along with relevant code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  snippets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57784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6B7280"/>
                </a:solidFill>
              </a:defRPr>
            </a:pPr>
            <a:r>
              <a:t>Related to Reflexion (Shinn et al., 2023) — but summaries continue the task rather than critique 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Layer 3: Sorcar Agent — The Toolbox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029200" cy="1188720"/>
          </a:xfrm>
          <a:prstGeom prst="roundRect">
            <a:avLst>
              <a:gd name="adj" fmla="val 6000"/>
            </a:avLst>
          </a:prstGeom>
          <a:solidFill>
            <a:srgbClr val="DCFB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defRPr sz="1700" b="1">
                <a:solidFill>
                  <a:srgbClr val="065941"/>
                </a:solidFill>
              </a:defRPr>
            </a:pPr>
            <a:r>
              <a:t>🖥️  Coding Tools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Shell executor (streaming, timeout, cancellable)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File reader, precise string editor, file writer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Tool names match Claude Code for reliability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926080"/>
            <a:ext cx="5029200" cy="1188720"/>
          </a:xfrm>
          <a:prstGeom prst="roundRect">
            <a:avLst>
              <a:gd name="adj" fmla="val 6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defRPr sz="1700" b="1">
                <a:solidFill>
                  <a:srgbClr val="1E40AF"/>
                </a:solidFill>
              </a:defRPr>
            </a:pPr>
            <a:r>
              <a:t>🌐  Browser Automation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Programmatic Chromium control via Playwright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Navigate, read accessibility trees, click,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type, scroll, screenshot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297680"/>
            <a:ext cx="5029200" cy="118872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defRPr sz="1700" b="1">
                <a:solidFill>
                  <a:srgbClr val="92400E"/>
                </a:solidFill>
              </a:defRPr>
            </a:pPr>
            <a:r>
              <a:t>⚡  Parallel Sub-Agents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Independent Sorcar instances in thread pool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Each gets own LLM context and tools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Results collected in input order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1554480"/>
            <a:ext cx="5029200" cy="1188720"/>
          </a:xfrm>
          <a:prstGeom prst="roundRect">
            <a:avLst>
              <a:gd name="adj" fmla="val 6000"/>
            </a:avLst>
          </a:prstGeom>
          <a:solidFill>
            <a:srgbClr val="F3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defRPr sz="1700" b="1">
                <a:solidFill>
                  <a:srgbClr val="6B21A8"/>
                </a:solidFill>
              </a:defRPr>
            </a:pPr>
            <a:r>
              <a:t>💬  User Interaction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ask-user-question tool for clarification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Renders as text input in VS Code sidebar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Reads from stdin in CLI mode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2926080"/>
            <a:ext cx="5029200" cy="1188720"/>
          </a:xfrm>
          <a:prstGeom prst="roundRect">
            <a:avLst>
              <a:gd name="adj" fmla="val 6000"/>
            </a:avLst>
          </a:prstGeom>
          <a:solidFill>
            <a:srgbClr val="FFE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defRPr sz="1700" b="1">
                <a:solidFill>
                  <a:srgbClr val="9F1239"/>
                </a:solidFill>
              </a:defRPr>
            </a:pPr>
            <a:r>
              <a:t>🐳  Docker Isolation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Docker-aware tool variants when image specified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All commands execute inside container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Sandboxing for untrusted tasks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Layer 4: Chat Sorcar Agent — Memory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6B7280"/>
                </a:solidFill>
              </a:defRPr>
            </a:pPr>
            <a:r>
              <a:t>Persistent multi-turn conversation with history recall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2011680"/>
            <a:ext cx="9448495" cy="411480"/>
          </a:xfrm>
          <a:prstGeom prst="roundRect">
            <a:avLst>
              <a:gd name="adj" fmla="val 15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Chat Sessions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514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defRPr sz="1600">
                <a:solidFill>
                  <a:srgbClr val="374151"/>
                </a:solidFill>
              </a:defRPr>
            </a:pPr>
            <a:r>
              <a:t>Each task assigned to a chat session with a stable chat ID.</a:t>
            </a:r>
          </a:p>
          <a:p>
            <a:pPr>
              <a:lnSpc>
                <a:spcPts val="2400"/>
              </a:lnSpc>
              <a:defRPr sz="1600">
                <a:solidFill>
                  <a:srgbClr val="374151"/>
                </a:solidFill>
              </a:defRPr>
            </a:pPr>
            <a:r>
              <a:t>Prior tasks &amp; results prepended as numbered context entries.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3383280"/>
            <a:ext cx="9448495" cy="411480"/>
          </a:xfrm>
          <a:prstGeom prst="roundRect">
            <a:avLst>
              <a:gd name="adj" fmla="val 15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Session Management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886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defRPr sz="1600">
                <a:solidFill>
                  <a:srgbClr val="374151"/>
                </a:solidFill>
              </a:defRPr>
            </a:pPr>
            <a:r>
              <a:t>Three operations: new chat, resume by description, resume by ID.</a:t>
            </a:r>
          </a:p>
          <a:p>
            <a:pPr>
              <a:lnSpc>
                <a:spcPts val="2400"/>
              </a:lnSpc>
              <a:defRPr sz="1600">
                <a:solidFill>
                  <a:srgbClr val="374151"/>
                </a:solidFill>
              </a:defRPr>
            </a:pPr>
            <a:r>
              <a:t>Automatic continuity in IDE, manual selection in CLI.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4754880"/>
            <a:ext cx="9448495" cy="411480"/>
          </a:xfrm>
          <a:prstGeom prst="roundRect">
            <a:avLst>
              <a:gd name="adj" fmla="val 15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Metadata Persistence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52578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defRPr sz="1600">
                <a:solidFill>
                  <a:srgbClr val="374151"/>
                </a:solidFill>
              </a:defRPr>
            </a:pPr>
            <a:r>
              <a:t>Records model, working directory, version, tokens, cost.</a:t>
            </a:r>
          </a:p>
          <a:p>
            <a:pPr>
              <a:lnSpc>
                <a:spcPts val="2400"/>
              </a:lnSpc>
              <a:defRPr sz="1600">
                <a:solidFill>
                  <a:srgbClr val="374151"/>
                </a:solidFill>
              </a:defRPr>
            </a:pPr>
            <a:r>
              <a:t>Audit trail supports cost analysis and debugging.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Layer 5: Worktree Sorcar Agent — Safety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6B7280"/>
                </a:solidFill>
              </a:defRPr>
            </a:pPr>
            <a:r>
              <a:t>Git worktree isolation — every task runs on its own branch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2057400"/>
            <a:ext cx="182880" cy="1828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01168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Branch-Per-Task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01168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  <a:defRPr sz="1500">
                <a:solidFill>
                  <a:srgbClr val="374151"/>
                </a:solidFill>
              </a:defRPr>
            </a:pPr>
            <a:r>
              <a:t>New git branch + worktree per task. User's main tree stays untouched.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2788920"/>
            <a:ext cx="182880" cy="1828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4320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Dirty-State Preservation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74320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  <a:defRPr sz="1500">
                <a:solidFill>
                  <a:srgbClr val="374151"/>
                </a:solidFill>
              </a:defRPr>
            </a:pPr>
            <a:r>
              <a:t>Uncommitted changes copied to worktree as baseline commit.</a:t>
            </a:r>
          </a:p>
          <a:p>
            <a:pPr>
              <a:lnSpc>
                <a:spcPts val="2100"/>
              </a:lnSpc>
              <a:defRPr sz="1500">
                <a:solidFill>
                  <a:srgbClr val="374151"/>
                </a:solidFill>
              </a:defRPr>
            </a:pPr>
            <a:r>
              <a:t>Cherry-pick replays only agent changes during merge.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3520440"/>
            <a:ext cx="182880" cy="1828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347472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Concurrency Safety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4747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  <a:defRPr sz="1500">
                <a:solidFill>
                  <a:srgbClr val="374151"/>
                </a:solidFill>
              </a:defRPr>
            </a:pPr>
            <a:r>
              <a:t>Per-repo file lock serializes checkout/stash/merge/pop.</a:t>
            </a:r>
          </a:p>
          <a:p>
            <a:pPr>
              <a:lnSpc>
                <a:spcPts val="2100"/>
              </a:lnSpc>
              <a:defRPr sz="1500">
                <a:solidFill>
                  <a:srgbClr val="374151"/>
                </a:solidFill>
              </a:defRPr>
            </a:pPr>
            <a:r>
              <a:t>Thread-local storage isolates per-task state.</a:t>
            </a:r>
          </a:p>
        </p:txBody>
      </p:sp>
      <p:sp>
        <p:nvSpPr>
          <p:cNvPr id="16" name="Oval 15"/>
          <p:cNvSpPr/>
          <p:nvPr/>
        </p:nvSpPr>
        <p:spPr>
          <a:xfrm>
            <a:off x="822960" y="4251960"/>
            <a:ext cx="182880" cy="1828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420624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Crash Recovery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420624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  <a:defRPr sz="1500">
                <a:solidFill>
                  <a:srgbClr val="374151"/>
                </a:solidFill>
              </a:defRPr>
            </a:pPr>
            <a:r>
              <a:t>All state stored in git (branch names, config). Reconstructs from git on restart.</a:t>
            </a:r>
          </a:p>
        </p:txBody>
      </p:sp>
      <p:sp>
        <p:nvSpPr>
          <p:cNvPr id="19" name="Oval 18"/>
          <p:cNvSpPr/>
          <p:nvPr/>
        </p:nvSpPr>
        <p:spPr>
          <a:xfrm>
            <a:off x="822960" y="4983480"/>
            <a:ext cx="182880" cy="1828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493776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Graceful Fallback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93776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  <a:defRPr sz="1500">
                <a:solidFill>
                  <a:srgbClr val="374151"/>
                </a:solidFill>
              </a:defRPr>
            </a:pPr>
            <a:r>
              <a:t>Falls back to direct execution if not in git repo, no commits, or detached HEAD.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The System Prompt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>
                <a:solidFill>
                  <a:srgbClr val="BFDBFE"/>
                </a:solidFill>
              </a:defRPr>
            </a:pPr>
            <a:r>
              <a:t>Engineering Discipline as LLM Instructions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3246120"/>
            <a:ext cx="213329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System Prompt — Not "Be Helpful" but a Precise Engineering Spec</a:t>
            </a:r>
          </a:p>
        </p:txBody>
      </p:sp>
      <p:sp>
        <p:nvSpPr>
          <p:cNvPr id="6" name="Chevron 5"/>
          <p:cNvSpPr/>
          <p:nvPr/>
        </p:nvSpPr>
        <p:spPr>
          <a:xfrm>
            <a:off x="914400" y="1673352"/>
            <a:ext cx="320040" cy="274320"/>
          </a:xfrm>
          <a:prstGeom prst="chevron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164592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Execution Mindset</a:t>
            </a:r>
          </a:p>
        </p:txBody>
      </p:sp>
      <p:sp>
        <p:nvSpPr>
          <p:cNvPr id="8" name="Chevron 7"/>
          <p:cNvSpPr/>
          <p:nvPr/>
        </p:nvSpPr>
        <p:spPr>
          <a:xfrm>
            <a:off x="914400" y="2176272"/>
            <a:ext cx="320040" cy="274320"/>
          </a:xfrm>
          <a:prstGeom prst="chevron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14884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Tool Rules</a:t>
            </a:r>
          </a:p>
        </p:txBody>
      </p:sp>
      <p:sp>
        <p:nvSpPr>
          <p:cNvPr id="10" name="Chevron 9"/>
          <p:cNvSpPr/>
          <p:nvPr/>
        </p:nvSpPr>
        <p:spPr>
          <a:xfrm>
            <a:off x="914400" y="2679192"/>
            <a:ext cx="320040" cy="274320"/>
          </a:xfrm>
          <a:prstGeom prst="chevron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265176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Pre-flight Checks</a:t>
            </a:r>
          </a:p>
        </p:txBody>
      </p:sp>
      <p:sp>
        <p:nvSpPr>
          <p:cNvPr id="12" name="Chevron 11"/>
          <p:cNvSpPr/>
          <p:nvPr/>
        </p:nvSpPr>
        <p:spPr>
          <a:xfrm>
            <a:off x="914400" y="3182112"/>
            <a:ext cx="320040" cy="274320"/>
          </a:xfrm>
          <a:prstGeom prst="chevron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63040" y="315468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Code Style Guidelines</a:t>
            </a:r>
          </a:p>
        </p:txBody>
      </p:sp>
      <p:sp>
        <p:nvSpPr>
          <p:cNvPr id="14" name="Chevron 13"/>
          <p:cNvSpPr/>
          <p:nvPr/>
        </p:nvSpPr>
        <p:spPr>
          <a:xfrm>
            <a:off x="914400" y="3685032"/>
            <a:ext cx="320040" cy="274320"/>
          </a:xfrm>
          <a:prstGeom prst="chevron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365760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Deep Work Rules</a:t>
            </a:r>
          </a:p>
        </p:txBody>
      </p:sp>
      <p:sp>
        <p:nvSpPr>
          <p:cNvPr id="16" name="Chevron 15"/>
          <p:cNvSpPr/>
          <p:nvPr/>
        </p:nvSpPr>
        <p:spPr>
          <a:xfrm>
            <a:off x="6217920" y="1673352"/>
            <a:ext cx="320040" cy="274320"/>
          </a:xfrm>
          <a:prstGeom prst="chevron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0" y="164592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Planning for Complex Tasks</a:t>
            </a:r>
          </a:p>
        </p:txBody>
      </p:sp>
      <p:sp>
        <p:nvSpPr>
          <p:cNvPr id="18" name="Chevron 17"/>
          <p:cNvSpPr/>
          <p:nvPr/>
        </p:nvSpPr>
        <p:spPr>
          <a:xfrm>
            <a:off x="6217920" y="2176272"/>
            <a:ext cx="320040" cy="274320"/>
          </a:xfrm>
          <a:prstGeom prst="chevron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214884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Testing Instructions</a:t>
            </a:r>
          </a:p>
        </p:txBody>
      </p:sp>
      <p:sp>
        <p:nvSpPr>
          <p:cNvPr id="20" name="Chevron 19"/>
          <p:cNvSpPr/>
          <p:nvPr/>
        </p:nvSpPr>
        <p:spPr>
          <a:xfrm>
            <a:off x="6217920" y="2679192"/>
            <a:ext cx="320040" cy="274320"/>
          </a:xfrm>
          <a:prstGeom prst="chevron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0" y="265176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Self-Improvement Loop</a:t>
            </a:r>
          </a:p>
        </p:txBody>
      </p:sp>
      <p:sp>
        <p:nvSpPr>
          <p:cNvPr id="22" name="Chevron 21"/>
          <p:cNvSpPr/>
          <p:nvPr/>
        </p:nvSpPr>
        <p:spPr>
          <a:xfrm>
            <a:off x="6217920" y="3182112"/>
            <a:ext cx="320040" cy="274320"/>
          </a:xfrm>
          <a:prstGeom prst="chevron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0" y="315468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Pre-Finish Verification</a:t>
            </a:r>
          </a:p>
        </p:txBody>
      </p:sp>
      <p:sp>
        <p:nvSpPr>
          <p:cNvPr id="24" name="Chevron 23"/>
          <p:cNvSpPr/>
          <p:nvPr/>
        </p:nvSpPr>
        <p:spPr>
          <a:xfrm>
            <a:off x="6217920" y="3685032"/>
            <a:ext cx="320040" cy="274320"/>
          </a:xfrm>
          <a:prstGeom prst="chevron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0" y="365760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Web Research &amp; File Browsing Protocols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5029200"/>
            <a:ext cx="10728655" cy="731520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>
              <a:defRPr sz="1500" b="0">
                <a:solidFill>
                  <a:srgbClr val="92400E"/>
                </a:solidFill>
              </a:defRPr>
            </a:pPr>
            <a:r>
              <a:t>Each section addresses specific, observed failure modes in LLM agents.</a:t>
            </a:r>
            <a:br/>
            <a:r>
              <a:t>The prompt is the result of months of iterative refinement through self-hosted development.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Execution Mindset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B7280"/>
                </a:solidFill>
                <a:latin typeface="Courier New"/>
              </a:defRPr>
            </a:pPr>
            <a:r>
              <a:t>SYSTEM PROMPT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10728655" cy="1097280"/>
          </a:xfrm>
          <a:prstGeom prst="roundRect">
            <a:avLst>
              <a:gd name="adj" fmla="val 2000"/>
            </a:avLst>
          </a:prstGeom>
          <a:solidFill>
            <a:srgbClr val="F8FA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# FOCUS ON THE GIVEN TASK. ITS COMPLETION IS YOUR SOLE GOAL.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# BE RELENTLESS. BE CALM. BE RIGOROUS. BE ACCURATE.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# CHECK FACTS. NO AI SLOP.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2011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3B82F6"/>
                </a:solidFill>
                <a:latin typeface="Courier New"/>
              </a:defRPr>
            </a:pPr>
            <a:r>
              <a:t>FOCUS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3383280"/>
            <a:ext cx="8503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74151"/>
                </a:solidFill>
              </a:defRPr>
            </a:pPr>
            <a:r>
              <a:t>Prevents drift, meta-commentary, tangential exploration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49040"/>
            <a:ext cx="2011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3B82F6"/>
                </a:solidFill>
                <a:latin typeface="Courier New"/>
              </a:defRPr>
            </a:pPr>
            <a:r>
              <a:t>RELENTLESS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3749040"/>
            <a:ext cx="8503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74151"/>
                </a:solidFill>
              </a:defRPr>
            </a:pPr>
            <a:r>
              <a:t>Treat errors as obstacles to overcome, not reasons to stop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114800"/>
            <a:ext cx="2011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3B82F6"/>
                </a:solidFill>
                <a:latin typeface="Courier New"/>
              </a:defRPr>
            </a:pPr>
            <a:r>
              <a:t>CALM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4114800"/>
            <a:ext cx="8503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74151"/>
                </a:solidFill>
              </a:defRPr>
            </a:pPr>
            <a:r>
              <a:t>Analyze errors methodically before reacting — no thrashing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480560"/>
            <a:ext cx="2011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3B82F6"/>
                </a:solidFill>
                <a:latin typeface="Courier New"/>
              </a:defRPr>
            </a:pPr>
            <a:r>
              <a:t>RIGOROUS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4480560"/>
            <a:ext cx="8503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74151"/>
                </a:solidFill>
              </a:defRPr>
            </a:pPr>
            <a:r>
              <a:t>Follow verification disciplines, don't take shortcuts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846320"/>
            <a:ext cx="2011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3B82F6"/>
                </a:solidFill>
                <a:latin typeface="Courier New"/>
              </a:defRPr>
            </a:pPr>
            <a:r>
              <a:t>ACCURATE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4846320"/>
            <a:ext cx="8503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74151"/>
                </a:solidFill>
              </a:defRPr>
            </a:pPr>
            <a:r>
              <a:t>Verify claims against actual filesystem, not parametric memory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212080"/>
            <a:ext cx="2011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3B82F6"/>
                </a:solidFill>
                <a:latin typeface="Courier New"/>
              </a:defRPr>
            </a:pPr>
            <a:r>
              <a:t>CHECK FACTS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5212080"/>
            <a:ext cx="8503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74151"/>
                </a:solidFill>
              </a:defRPr>
            </a:pPr>
            <a:r>
              <a:t>Verify information collected via web tools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577840"/>
            <a:ext cx="2011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3B82F6"/>
                </a:solidFill>
                <a:latin typeface="Courier New"/>
              </a:defRPr>
            </a:pPr>
            <a:r>
              <a:t>NO AI SLOP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5577840"/>
            <a:ext cx="8503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74151"/>
                </a:solidFill>
              </a:defRPr>
            </a:pPr>
            <a:r>
              <a:t>No filler phrases, unnecessary caveats, or "certainly!"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Tool Rules — Mechanical Protocols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</a:defRPr>
            </a:pPr>
            <a:r>
              <a:t>• Write() for new files. Edit() for small changes.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1554480"/>
            <a:ext cx="4297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6B7280"/>
                </a:solidFill>
              </a:defRPr>
            </a:pPr>
            <a:r>
              <a:t>→ Prevents overwriting existing files with incomplete versions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84832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</a:defRPr>
            </a:pPr>
            <a:r>
              <a:t>• Bash timeout: 300s default, retry higher, background for &gt;10min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084832"/>
            <a:ext cx="4297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6B7280"/>
                </a:solidFill>
              </a:defRPr>
            </a:pPr>
            <a:r>
              <a:t>→ Eliminates spurious failures from short timeouts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15184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</a:defRPr>
            </a:pPr>
            <a:r>
              <a:t>• Use ULTRA thinking always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2615184"/>
            <a:ext cx="4297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6B7280"/>
                </a:solidFill>
              </a:defRPr>
            </a:pPr>
            <a:r>
              <a:t>→ Activates extended reasoning for complex multi-step tasks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145536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</a:defRPr>
            </a:pPr>
            <a:r>
              <a:t>• If running out of context, continue via finish()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3145536"/>
            <a:ext cx="4297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6B7280"/>
                </a:solidFill>
              </a:defRPr>
            </a:pPr>
            <a:r>
              <a:t>→ Prevents "rush to finish" — clean handoff beats frantic completion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675888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</a:defRPr>
            </a:pPr>
            <a:r>
              <a:t>• READ large files in chunks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3675888"/>
            <a:ext cx="4297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6B7280"/>
                </a:solidFill>
              </a:defRPr>
            </a:pPr>
            <a:r>
              <a:t>→ Prevents context window exhaustion from a single file read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20624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</a:defRPr>
            </a:pPr>
            <a:r>
              <a:t>• Create temp files in PWD/tmp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4206240"/>
            <a:ext cx="4297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6B7280"/>
                </a:solidFill>
              </a:defRPr>
            </a:pPr>
            <a:r>
              <a:t>→ Centralizes artifacts, prevents polluting the project tree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736592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</a:defRPr>
            </a:pPr>
            <a:r>
              <a:t>• User cannot see intermediate chat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4736592"/>
            <a:ext cx="4297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6B7280"/>
                </a:solidFill>
              </a:defRPr>
            </a:pPr>
            <a:r>
              <a:t>→ Forces all user-facing info into the finish summary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Pre-flight Checks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10728655" cy="365760"/>
          </a:xfrm>
          <a:prstGeom prst="roundRect">
            <a:avLst>
              <a:gd name="adj" fmla="val 1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wrap="square"/>
          <a:lstStyle/>
          <a:p>
            <a:pPr algn="ctr">
              <a:defRPr sz="1600" b="1">
                <a:solidFill>
                  <a:srgbClr val="1B2A4A"/>
                </a:solidFill>
              </a:defRPr>
            </a:pPr>
            <a:r>
              <a:t>✓  Read every file you will modify before changing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11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Most common bug source: editing based on stale mental model.</a:t>
            </a:r>
          </a:p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Fresh read ensures operating on current state.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606040"/>
            <a:ext cx="10728655" cy="365760"/>
          </a:xfrm>
          <a:prstGeom prst="roundRect">
            <a:avLst>
              <a:gd name="adj" fmla="val 1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wrap="square"/>
          <a:lstStyle/>
          <a:p>
            <a:pPr algn="ctr">
              <a:defRPr sz="1600" b="1">
                <a:solidFill>
                  <a:srgbClr val="1B2A4A"/>
                </a:solidFill>
              </a:defRPr>
            </a:pPr>
            <a:r>
              <a:t>✓  If task depends on architecture, read source files 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632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Extends per-file reading to architectural context.</a:t>
            </a:r>
          </a:p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Prevents jumping to code generation without understanding.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657600"/>
            <a:ext cx="10728655" cy="365760"/>
          </a:xfrm>
          <a:prstGeom prst="roundRect">
            <a:avLst>
              <a:gd name="adj" fmla="val 1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wrap="square"/>
          <a:lstStyle/>
          <a:p>
            <a:pPr algn="ctr">
              <a:defRPr sz="1600" b="1">
                <a:solidFill>
                  <a:srgbClr val="1B2A4A"/>
                </a:solidFill>
              </a:defRPr>
            </a:pPr>
            <a:r>
              <a:t>✓  If referenced files/commands don't exist, ask instead of guessing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114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LLMs confabulate — they'll edit phantom files.</a:t>
            </a:r>
          </a:p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Converts silent failure into explicit clarification.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709160"/>
            <a:ext cx="10728655" cy="365760"/>
          </a:xfrm>
          <a:prstGeom prst="roundRect">
            <a:avLst>
              <a:gd name="adj" fmla="val 1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wrap="square"/>
          <a:lstStyle/>
          <a:p>
            <a:pPr algn="ctr">
              <a:defRPr sz="1600" b="1">
                <a:solidFill>
                  <a:srgbClr val="1B2A4A"/>
                </a:solidFill>
              </a:defRPr>
            </a:pPr>
            <a:r>
              <a:t>✓  When fixing a bug, write tests first, then fix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663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Test-first discipline: test reproduces bug, proves fix.</a:t>
            </a:r>
          </a:p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Forces understanding before patching.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Code Style Guidelines — A Minimalist Philosophy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</a:defRPr>
            </a:pPr>
            <a:r>
              <a:t>• Simple, clean, readable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55448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LLMs over-engineer — unnecessary abstractions, helpers, indirection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5740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</a:defRPr>
            </a:pPr>
            <a:r>
              <a:t>• No unnecessary variables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205740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Intermediate variables that serve no purpose increase cognitive 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56032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</a:defRPr>
            </a:pPr>
            <a:r>
              <a:t>• Avoid tight coupling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5603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Cross-module globals and shared state create fragile systems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06324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</a:defRPr>
            </a:pPr>
            <a:r>
              <a:t>• No attribute redirections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063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self.x = other.x creates two paths to the same value — harder to reason about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56616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</a:defRPr>
            </a:pPr>
            <a:r>
              <a:t>• No duplicate code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35661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Check for existing implementations before creating new utilities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0690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</a:defRPr>
            </a:pPr>
            <a:r>
              <a:t>• Document public methods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406908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Public API is the contract — documentation is not optional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57200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</a:defRPr>
            </a:pPr>
            <a:r>
              <a:t>• Root cause, not symptoms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457200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Trace the causal chain to the root — no ad hoc patches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7492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</a:defRPr>
            </a:pPr>
            <a:r>
              <a:t>• Think before you code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50749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Metacognitive pause: "Is this simple, elegant, general, minimal?"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Deep Work Rules — No Vague Edits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55448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  <a:defRPr sz="1600" b="1">
                <a:solidFill>
                  <a:srgbClr val="1B2A4A"/>
                </a:solidFill>
              </a:defRPr>
            </a:pPr>
            <a:r>
              <a:t>"align" / "match" / "make consistent" →</a:t>
            </a:r>
          </a:p>
          <a:p>
            <a:pPr>
              <a:lnSpc>
                <a:spcPts val="2200"/>
              </a:lnSpc>
              <a:defRPr sz="1600" b="1">
                <a:solidFill>
                  <a:srgbClr val="1B2A4A"/>
                </a:solidFill>
              </a:defRPr>
            </a:pPr>
            <a:r>
              <a:t>Read the target 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155448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  <a:defRPr sz="1500">
                <a:solidFill>
                  <a:srgbClr val="6B7280"/>
                </a:solidFill>
              </a:defRPr>
            </a:pPr>
            <a:r>
              <a:t>Model often infers what Y contains</a:t>
            </a:r>
          </a:p>
          <a:p>
            <a:pPr>
              <a:lnSpc>
                <a:spcPts val="2200"/>
              </a:lnSpc>
              <a:defRPr sz="1500">
                <a:solidFill>
                  <a:srgbClr val="6B7280"/>
                </a:solidFill>
              </a:defRPr>
            </a:pPr>
            <a:r>
              <a:t>without ever reading 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606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60604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  <a:defRPr sz="1600" b="1">
                <a:solidFill>
                  <a:srgbClr val="1B2A4A"/>
                </a:solidFill>
              </a:defRPr>
            </a:pPr>
            <a:r>
              <a:t>Use concrete values, not indirections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60604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  <a:defRPr sz="1500">
                <a:solidFill>
                  <a:srgbClr val="6B7280"/>
                </a:solidFill>
              </a:defRPr>
            </a:pPr>
            <a:r>
              <a:t>Instead of "update X to match Y":</a:t>
            </a:r>
          </a:p>
          <a:p>
            <a:pPr>
              <a:lnSpc>
                <a:spcPts val="2200"/>
              </a:lnSpc>
              <a:defRPr sz="1500">
                <a:solidFill>
                  <a:srgbClr val="6B7280"/>
                </a:solidFill>
              </a:defRPr>
            </a:pPr>
            <a:r>
              <a:t>read Y, extract values, write into 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6576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65760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  <a:defRPr sz="1600" b="1">
                <a:solidFill>
                  <a:srgbClr val="1B2A4A"/>
                </a:solidFill>
              </a:defRPr>
            </a:pPr>
            <a:r>
              <a:t>List all planned changes before executing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365760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  <a:defRPr sz="1500">
                <a:solidFill>
                  <a:srgbClr val="6B7280"/>
                </a:solidFill>
              </a:defRPr>
            </a:pPr>
            <a:r>
              <a:t>Multi-file changes need full-scope awareness</a:t>
            </a:r>
          </a:p>
          <a:p>
            <a:pPr>
              <a:lnSpc>
                <a:spcPts val="2200"/>
              </a:lnSpc>
              <a:defRPr sz="1500">
                <a:solidFill>
                  <a:srgbClr val="6B7280"/>
                </a:solidFill>
              </a:defRPr>
            </a:pPr>
            <a:r>
              <a:t>to prevent inconsistencies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70916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70916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  <a:defRPr sz="1600" b="1">
                <a:solidFill>
                  <a:srgbClr val="1B2A4A"/>
                </a:solidFill>
              </a:defRPr>
            </a:pPr>
            <a:r>
              <a:t>Every change needs a verification 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70916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  <a:defRPr sz="1500">
                <a:solidFill>
                  <a:srgbClr val="6B7280"/>
                </a:solidFill>
              </a:defRPr>
            </a:pPr>
            <a:r>
              <a:t>Test, grep, CLI command — no change</a:t>
            </a:r>
          </a:p>
          <a:p>
            <a:pPr>
              <a:lnSpc>
                <a:spcPts val="2200"/>
              </a:lnSpc>
              <a:defRPr sz="1500">
                <a:solidFill>
                  <a:srgbClr val="6B7280"/>
                </a:solidFill>
              </a:defRPr>
            </a:pPr>
            <a:r>
              <a:t>without programmatic validation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Planning for Complex Tasks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6B7280"/>
                </a:solidFill>
              </a:defRPr>
            </a:pPr>
            <a:r>
              <a:t>Triggered for: 3+ files, cross-module changes, or architectural work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2057400"/>
            <a:ext cx="457200" cy="4572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01168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List the files that need to change and why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5740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6B7280"/>
                </a:solidFill>
              </a:defRPr>
            </a:pPr>
            <a:r>
              <a:t>Enumerate full blast radius before touching any file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2834640"/>
            <a:ext cx="457200" cy="4572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78892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State the exact intended change in each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83464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6B7280"/>
                </a:solidFill>
              </a:defRPr>
            </a:pPr>
            <a:r>
              <a:t>Convert "update the database module" → concrete specification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56616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Identify dependencies and execution order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1188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6B7280"/>
                </a:solidFill>
              </a:defRPr>
            </a:pPr>
            <a:r>
              <a:t>New utility must be written before callers can import it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4389120"/>
            <a:ext cx="457200" cy="4572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34340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State how each change will be verified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38912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6B7280"/>
                </a:solidFill>
              </a:defRPr>
            </a:pPr>
            <a:r>
              <a:t>Pair each change with a test, grep, or CLI command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303520"/>
            <a:ext cx="10728655" cy="411480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>
              <a:defRPr sz="1400" b="0">
                <a:solidFill>
                  <a:srgbClr val="92400E"/>
                </a:solidFill>
              </a:defRPr>
            </a:pPr>
            <a:r>
              <a:t>Escape clause: For simple single-file tasks, skip formal planning and execute directly.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Testing Instructions — The Most Opinionated Section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1609344"/>
            <a:ext cx="164592" cy="164592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</a:defRPr>
            </a:pPr>
            <a:r>
              <a:t>Run lint + typecheckers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1554480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400">
                <a:solidFill>
                  <a:srgbClr val="374151"/>
                </a:solidFill>
              </a:defRPr>
            </a:pPr>
            <a:r>
              <a:t>Catches unused imports, type mismatches, style violations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2176272"/>
            <a:ext cx="164592" cy="164592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</a:defRPr>
            </a:pPr>
            <a:r>
              <a:t>100% branch coverage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2121408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400">
                <a:solidFill>
                  <a:srgbClr val="374151"/>
                </a:solidFill>
              </a:defRPr>
            </a:pPr>
            <a:r>
              <a:t>Forces tests for error handling, edge cases, early returns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2743200"/>
            <a:ext cx="164592" cy="164592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</a:defRPr>
            </a:pPr>
            <a:r>
              <a:t>NO mocks, patches, or fakes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2688336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400">
                <a:solidFill>
                  <a:srgbClr val="374151"/>
                </a:solidFill>
              </a:defRPr>
            </a:pPr>
            <a:r>
              <a:t>Mock tests verify implementation, not behavior.</a:t>
            </a:r>
          </a:p>
          <a:p>
            <a:pPr>
              <a:lnSpc>
                <a:spcPts val="1900"/>
              </a:lnSpc>
              <a:defRPr sz="1400">
                <a:solidFill>
                  <a:srgbClr val="374151"/>
                </a:solidFill>
              </a:defRPr>
            </a:pPr>
            <a:r>
              <a:t>A mocked suite can pass while the system is broken.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310128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</a:defRPr>
            </a:pPr>
            <a:r>
              <a:t>Integration tests required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3255264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400">
                <a:solidFill>
                  <a:srgbClr val="374151"/>
                </a:solidFill>
              </a:defRPr>
            </a:pPr>
            <a:r>
              <a:t>Exercise actual behavior with real I/O,</a:t>
            </a:r>
          </a:p>
          <a:p>
            <a:pPr>
              <a:lnSpc>
                <a:spcPts val="1900"/>
              </a:lnSpc>
              <a:defRPr sz="1400">
                <a:solidFill>
                  <a:srgbClr val="374151"/>
                </a:solidFill>
              </a:defRPr>
            </a:pPr>
            <a:r>
              <a:t>real DB connections, real inter-module interactions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3877056"/>
            <a:ext cx="164592" cy="164592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</a:defRPr>
            </a:pPr>
            <a:r>
              <a:t>Tests must be independent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3822192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400">
                <a:solidFill>
                  <a:srgbClr val="374151"/>
                </a:solidFill>
              </a:defRPr>
            </a:pPr>
            <a:r>
              <a:t>No shared state, no execution order dependencies</a:t>
            </a:r>
          </a:p>
        </p:txBody>
      </p:sp>
      <p:sp>
        <p:nvSpPr>
          <p:cNvPr id="21" name="Oval 20"/>
          <p:cNvSpPr/>
          <p:nvPr/>
        </p:nvSpPr>
        <p:spPr>
          <a:xfrm>
            <a:off x="731520" y="4443984"/>
            <a:ext cx="164592" cy="164592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4389120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</a:defRPr>
            </a:pPr>
            <a:r>
              <a:t>Only run impacted tests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4389120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400">
                <a:solidFill>
                  <a:srgbClr val="374151"/>
                </a:solidFill>
              </a:defRPr>
            </a:pPr>
            <a:r>
              <a:t>Full suite after every edit wastes time and compute</a:t>
            </a:r>
          </a:p>
        </p:txBody>
      </p:sp>
      <p:sp>
        <p:nvSpPr>
          <p:cNvPr id="24" name="Oval 23"/>
          <p:cNvSpPr/>
          <p:nvPr/>
        </p:nvSpPr>
        <p:spPr>
          <a:xfrm>
            <a:off x="731520" y="5010912"/>
            <a:ext cx="164592" cy="16459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956048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</a:defRPr>
            </a:pPr>
            <a:r>
              <a:t>Race condition: sleep &lt; 0.1s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4956048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400">
                <a:solidFill>
                  <a:srgbClr val="374151"/>
                </a:solidFill>
              </a:defRPr>
            </a:pPr>
            <a:r>
              <a:t>Widen race window to make bugs deterministic in tests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Self-Improvement Loop — Cross-Session Learning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86000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B2A4A"/>
                </a:solidFill>
              </a:defRPr>
            </a:pPr>
            <a:r>
              <a:t>Read USER_PREFS.md</a:t>
            </a:r>
          </a:p>
          <a:p>
            <a:pPr algn="ctr">
              <a:defRPr sz="1500" b="1">
                <a:solidFill>
                  <a:srgbClr val="1B2A4A"/>
                </a:solidFill>
              </a:defRPr>
            </a:pPr>
            <a:r>
              <a:t>at task start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0" y="2286000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DCFB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65941"/>
                </a:solidFill>
              </a:defRPr>
            </a:pPr>
            <a:r>
              <a:t>Execute task with</a:t>
            </a:r>
          </a:p>
          <a:p>
            <a:pPr algn="ctr">
              <a:defRPr sz="1500" b="1">
                <a:solidFill>
                  <a:srgbClr val="065941"/>
                </a:solidFill>
              </a:defRPr>
            </a:pPr>
            <a:r>
              <a:t>accumulated knowledge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0" y="2286000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92400E"/>
                </a:solidFill>
              </a:defRPr>
            </a:pPr>
            <a:r>
              <a:t>Update USER_PREFS.md</a:t>
            </a:r>
          </a:p>
          <a:p>
            <a:pPr algn="ctr">
              <a:defRPr sz="1500" b="1">
                <a:solidFill>
                  <a:srgbClr val="92400E"/>
                </a:solidFill>
              </a:defRPr>
            </a:pPr>
            <a:r>
              <a:t>with new invariants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40480" y="4114800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F3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6B21A8"/>
                </a:solidFill>
              </a:defRPr>
            </a:pPr>
            <a:r>
              <a:t>Resolve conflicts</a:t>
            </a:r>
          </a:p>
          <a:p>
            <a:pPr algn="ctr">
              <a:defRPr sz="1500" b="1">
                <a:solidFill>
                  <a:srgbClr val="6B21A8"/>
                </a:solidFill>
              </a:defRPr>
            </a:pPr>
            <a:r>
              <a:t>with existing prefs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30352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74151"/>
                </a:solidFill>
              </a:defRPr>
            </a:pPr>
            <a:r>
              <a:t>• No code snippets in preferences — they become stale as codebase evolves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596128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74151"/>
                </a:solidFill>
              </a:defRPr>
            </a:pPr>
            <a:r>
              <a:t>• Actively resolve contradictions when updating (e.g. camelCase vs snake_case)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888736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74151"/>
                </a:solidFill>
              </a:defRPr>
            </a:pPr>
            <a:r>
              <a:t>• Information NOT stored in databases or multiple folders — stale data is impossible to clean 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6181344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74151"/>
                </a:solidFill>
              </a:defRPr>
            </a:pPr>
            <a:r>
              <a:t>• Progressively more effective without manual configuration by the developer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Pre-Finish Verification Checklist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6B7280"/>
                </a:solidFill>
              </a:defRPr>
            </a:pPr>
            <a:r>
              <a:t>Before calling finish(success=True), the agent MUST: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411480" cy="411480"/>
          </a:xfrm>
          <a:prstGeom prst="roundRect">
            <a:avLst>
              <a:gd name="adj" fmla="val 2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01168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Re-read every modified 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057400"/>
            <a:ext cx="5760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Self code review — catch typos, forgotten brackets, context-wrong edits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697480"/>
            <a:ext cx="411480" cy="411480"/>
          </a:xfrm>
          <a:prstGeom prst="roundRect">
            <a:avLst>
              <a:gd name="adj" fmla="val 2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9748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Run lint, typecheck, tests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2743200"/>
            <a:ext cx="5760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Objective automated verification replaces subjective assessment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383280"/>
            <a:ext cx="411480" cy="411480"/>
          </a:xfrm>
          <a:prstGeom prst="roundRect">
            <a:avLst>
              <a:gd name="adj" fmla="val 2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38328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Check each user requirement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3429000"/>
            <a:ext cx="5760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Systematic comparison between task description and delivered result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069080"/>
            <a:ext cx="411480" cy="411480"/>
          </a:xfrm>
          <a:prstGeom prst="roundRect">
            <a:avLst>
              <a:gd name="adj" fmla="val 2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06908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If any check fails → keep working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4114800"/>
            <a:ext cx="5760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No finishing with known failures, no rationalizing failures as minor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754880"/>
            <a:ext cx="411480" cy="411480"/>
          </a:xfrm>
          <a:prstGeom prst="roundRect">
            <a:avLst>
              <a:gd name="adj" fmla="val 20000"/>
            </a:avLst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75488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3 retries without progress → rethink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4800600"/>
            <a:ext cx="5760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Break repetitive loops — abandon failing approach for first principles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Web Research &amp; File Browsing Protocols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10728655" cy="457200"/>
          </a:xfrm>
          <a:prstGeom prst="roundRect">
            <a:avLst>
              <a:gd name="adj" fmla="val 5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Two-Phase Approach:  COLLECT first  →  SYNTHESIZE second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286000"/>
            <a:ext cx="5029200" cy="365760"/>
          </a:xfrm>
          <a:prstGeom prst="roundRect">
            <a:avLst>
              <a:gd name="adj" fmla="val 5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Web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4754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74151"/>
                </a:solidFill>
              </a:defRPr>
            </a:pPr>
            <a:r>
              <a:t>• Visit AT LEAST 100 web sites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54680"/>
            <a:ext cx="4754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74151"/>
                </a:solidFill>
              </a:defRPr>
            </a:pPr>
            <a:r>
              <a:t>• Collect info into PWD/tmp/information-{id}.md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474720"/>
            <a:ext cx="4754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74151"/>
                </a:solidFill>
              </a:defRPr>
            </a:pPr>
            <a:r>
              <a:t>• Then synthesize — think deeply, then 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94760"/>
            <a:ext cx="4754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74151"/>
                </a:solidFill>
              </a:defRPr>
            </a:pPr>
            <a:r>
              <a:t>• Counteracts anchoring bias on first few results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14800"/>
            <a:ext cx="4754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74151"/>
                </a:solidFill>
              </a:defRPr>
            </a:pPr>
            <a:r>
              <a:t>• Information file = auditable artifact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286000"/>
            <a:ext cx="5212080" cy="365760"/>
          </a:xfrm>
          <a:prstGeom prst="roundRect">
            <a:avLst>
              <a:gd name="adj" fmla="val 5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File Browsing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834640"/>
            <a:ext cx="4937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74151"/>
                </a:solidFill>
              </a:defRPr>
            </a:pPr>
            <a:r>
              <a:t>• Read files into PWD/tmp/file-information-{id}.md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154680"/>
            <a:ext cx="4937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74151"/>
                </a:solidFill>
              </a:defRPr>
            </a:pPr>
            <a:r>
              <a:t>• Collect WITHOUT much thinking first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474720"/>
            <a:ext cx="4937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74151"/>
                </a:solidFill>
              </a:defRPr>
            </a:pPr>
            <a:r>
              <a:t>• Extract facts: signatures, hierarchies, call sites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794760"/>
            <a:ext cx="4937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74151"/>
                </a:solidFill>
              </a:defRPr>
            </a:pPr>
            <a:r>
              <a:t>• Summary is smaller than raw files — saves context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114800"/>
            <a:ext cx="4937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74151"/>
                </a:solidFill>
              </a:defRPr>
            </a:pPr>
            <a:r>
              <a:t>• Prevents premature commitment to a plan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VS Code Extension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>
                <a:solidFill>
                  <a:srgbClr val="BFDBFE"/>
                </a:solidFill>
              </a:defRPr>
            </a:pPr>
            <a:r>
              <a:t>Unique Features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3246120"/>
            <a:ext cx="213329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VS Code Extension — Unique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10728655" cy="1417320"/>
          </a:xfrm>
          <a:prstGeom prst="roundRect">
            <a:avLst>
              <a:gd name="adj" fmla="val 4000"/>
            </a:avLst>
          </a:prstGeom>
          <a:solidFill>
            <a:srgbClr val="DCFB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ctr">
              <a:spcAft>
                <a:spcPts val="400"/>
              </a:spcAft>
              <a:defRPr sz="2000" b="1">
                <a:solidFill>
                  <a:srgbClr val="065941"/>
                </a:solidFill>
              </a:defRPr>
            </a:pPr>
            <a:r>
              <a:t>Cross-Session Self-Improvement</a:t>
            </a:r>
          </a:p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USER_PREFS.md is read at start and updated at end of each task.</a:t>
            </a:r>
          </a:p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Agent accumulates project knowledge over time — no manual config needed.</a:t>
            </a:r>
          </a:p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Conflicts are actively resolved. No other IDE assistant does this.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154680"/>
            <a:ext cx="10728655" cy="141732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ctr">
              <a:spcAft>
                <a:spcPts val="400"/>
              </a:spcAft>
              <a:defRPr sz="2000" b="1">
                <a:solidFill>
                  <a:srgbClr val="1E40AF"/>
                </a:solidFill>
              </a:defRPr>
            </a:pPr>
            <a:r>
              <a:t>Real-Time Budget Accountability</a:t>
            </a:r>
          </a:p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Input/output tokens, cache hits, dollar cost, elapsed time — updated every step.</a:t>
            </a:r>
          </a:p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Per-task and global budget ceilings with hard errors on overspend.</a:t>
            </a:r>
          </a:p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No other tool provides this level of cost transparency.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754880"/>
            <a:ext cx="10728655" cy="1417320"/>
          </a:xfrm>
          <a:prstGeom prst="roundRect">
            <a:avLst>
              <a:gd name="adj" fmla="val 4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ctr">
              <a:spcAft>
                <a:spcPts val="400"/>
              </a:spcAft>
              <a:defRPr sz="2000" b="1">
                <a:solidFill>
                  <a:srgbClr val="92400E"/>
                </a:solidFill>
              </a:defRPr>
            </a:pPr>
            <a:r>
              <a:t>Integrated Browser Automation</a:t>
            </a:r>
          </a:p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Live browser preview in sidebar via Playwright + Chromium.</a:t>
            </a:r>
          </a:p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Navigate, click, type, scroll, screenshot — all programmatic.</a:t>
            </a:r>
          </a:p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Verify deployed apps, scrape docs, interact with CI dashboards.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>
                <a:solidFill>
                  <a:srgbClr val="BFDBFE"/>
                </a:solidFill>
              </a:defRPr>
            </a:pPr>
            <a:r>
              <a:t>Terminal Bench 2.0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3246120"/>
            <a:ext cx="213329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Evaluation Setup — Terminal Bench 2.0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645920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155448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89 diverse terminal-based tasks (compilers, servers, crypto, ML, emulation, ...)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48840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205740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Each task runs in an isolated Docker container with automatic verification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651760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256032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5 independent trials per task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3154680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306324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Claude Opus 4.6 as the underlying LLM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3657600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35661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No benchmark-specific prompt modifications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160520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0160" y="406908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9 tasks hard-skipped (verified infeasible for Opus 4.6) — counted as failures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4663440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457200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Harbor framework for orchestration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5166360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80160" y="507492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Evaluated on a 2025 MacBook Air 15"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Aggregate Results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286000" y="1554480"/>
          <a:ext cx="7619695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3504895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500" b="1">
                          <a:solidFill>
                            <a:srgbClr val="1B2A4A"/>
                          </a:solidFill>
                        </a:defRPr>
                      </a:pPr>
                      <a:r>
                        <a:t>Total tasks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B2A4A"/>
                          </a:solidFill>
                        </a:defRPr>
                      </a:pPr>
                      <a:r>
                        <a:t>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Overall pass rate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62.2%  (277 / 445)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pass@any (≥ 1/5)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78.7%  (70 / 89)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pass@all (5/5)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43.8%  (39 / 89)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Always-fail tasks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Always-pass tasks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39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Mixed-result tasks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Median cost / trial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$0.45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Mean cost / trial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$0.90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Median duration / trial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202s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Mean duration / trial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446s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Comparison with Other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69164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Claude 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0" y="2011680"/>
            <a:ext cx="4242816" cy="548640"/>
          </a:xfrm>
          <a:prstGeom prst="roundRect">
            <a:avLst>
              <a:gd name="adj" fmla="val 20000"/>
            </a:avLst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54496" y="2011680"/>
            <a:ext cx="13716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200" b="1">
                <a:solidFill>
                  <a:srgbClr val="6B7280"/>
                </a:solidFill>
              </a:defRPr>
            </a:pPr>
            <a:r>
              <a:t>58.0%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88036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Cursor Composer 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0" y="3200400"/>
            <a:ext cx="4513478" cy="548640"/>
          </a:xfrm>
          <a:prstGeom prst="roundRect">
            <a:avLst>
              <a:gd name="adj" fmla="val 20000"/>
            </a:avLst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5158" y="3200400"/>
            <a:ext cx="13716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200" b="1">
                <a:solidFill>
                  <a:srgbClr val="6B7280"/>
                </a:solidFill>
              </a:defRPr>
            </a:pPr>
            <a:r>
              <a:t>61.7%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406908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KISS Sorcar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28800" y="4389120"/>
            <a:ext cx="4550054" cy="548640"/>
          </a:xfrm>
          <a:prstGeom prst="roundRect">
            <a:avLst>
              <a:gd name="adj" fmla="val 2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61734" y="4389120"/>
            <a:ext cx="13716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200" b="1">
                <a:solidFill>
                  <a:srgbClr val="3B82F6"/>
                </a:solidFill>
              </a:defRPr>
            </a:pPr>
            <a:r>
              <a:t>62.2%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5303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• All using Claude Opus 4.6 as the underlying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6235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• Cursor Composer 2 uses a custom fine-tuned model with large-scale RL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59436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• KISS Sorcar: no fine-tuning, no benchmark-specific optimizations, ~1,850 lines of Python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Task-Level Breakdown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10728655" cy="411480"/>
          </a:xfrm>
          <a:prstGeom prst="roundRect">
            <a:avLst>
              <a:gd name="adj" fmla="val 15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Consistently Solved  (39/89)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57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  <a:defRPr sz="1500">
                <a:solidFill>
                  <a:srgbClr val="374151"/>
                </a:solidFill>
              </a:defRPr>
            </a:pPr>
            <a:r>
              <a:t>Cryptanalysis, chess, git operations, server config,</a:t>
            </a:r>
          </a:p>
          <a:p>
            <a:pPr>
              <a:lnSpc>
                <a:spcPts val="2200"/>
              </a:lnSpc>
              <a:defRPr sz="1500">
                <a:solidFill>
                  <a:srgbClr val="374151"/>
                </a:solidFill>
              </a:defRPr>
            </a:pPr>
            <a:r>
              <a:t>data processing, Coq proofs, ML inference, QEMU startup</a:t>
            </a:r>
          </a:p>
          <a:p>
            <a:pPr>
              <a:lnSpc>
                <a:spcPts val="2200"/>
              </a:lnSpc>
              <a:defRPr sz="1500">
                <a:solidFill>
                  <a:srgbClr val="374151"/>
                </a:solidFill>
              </a:defRPr>
            </a:pPr>
            <a:r>
              <a:t>→ Breadth across systems, security, data, formal methods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108960"/>
            <a:ext cx="10728655" cy="411480"/>
          </a:xfrm>
          <a:prstGeom prst="roundRect">
            <a:avLst>
              <a:gd name="adj" fmla="val 15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Consistently Failed  (19/89)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  <a:defRPr sz="1500">
                <a:solidFill>
                  <a:srgbClr val="374151"/>
                </a:solidFill>
              </a:defRPr>
            </a:pPr>
            <a:r>
              <a:t>Graphical/multimedia tasks (video, Windows 3.11 GUI)</a:t>
            </a:r>
          </a:p>
          <a:p>
            <a:pPr>
              <a:lnSpc>
                <a:spcPts val="2200"/>
              </a:lnSpc>
              <a:defRPr sz="1500">
                <a:solidFill>
                  <a:srgbClr val="374151"/>
                </a:solidFill>
              </a:defRPr>
            </a:pPr>
            <a:r>
              <a:t>Resource-intensive builds (CompCert, Doom for MIPS)</a:t>
            </a:r>
          </a:p>
          <a:p>
            <a:pPr>
              <a:lnSpc>
                <a:spcPts val="2200"/>
              </a:lnSpc>
              <a:defRPr sz="1500">
                <a:solidFill>
                  <a:srgbClr val="374151"/>
                </a:solidFill>
              </a:defRPr>
            </a:pPr>
            <a:r>
              <a:t>Niche domains (DNA insertion, OCaml GC, polyglot)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663440"/>
            <a:ext cx="10728655" cy="411480"/>
          </a:xfrm>
          <a:prstGeom prst="roundRect">
            <a:avLst>
              <a:gd name="adj" fmla="val 15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Mixed Results  (31/89)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16636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  <a:defRPr sz="1500">
                <a:solidFill>
                  <a:srgbClr val="374151"/>
                </a:solidFill>
              </a:defRPr>
            </a:pPr>
            <a:r>
              <a:t>write-compressor (3/5), crack-7z-hash (4/5)</a:t>
            </a:r>
          </a:p>
          <a:p>
            <a:pPr>
              <a:lnSpc>
                <a:spcPts val="2200"/>
              </a:lnSpc>
              <a:defRPr sz="1500">
                <a:solidFill>
                  <a:srgbClr val="374151"/>
                </a:solidFill>
              </a:defRPr>
            </a:pPr>
            <a:r>
              <a:t>Non-determinism in model reasoning or timing</a:t>
            </a:r>
          </a:p>
          <a:p>
            <a:pPr>
              <a:lnSpc>
                <a:spcPts val="2200"/>
              </a:lnSpc>
              <a:defRPr sz="1500">
                <a:solidFill>
                  <a:srgbClr val="374151"/>
                </a:solidFill>
              </a:defRPr>
            </a:pPr>
            <a:r>
              <a:t>Some tasks at boundary of model capability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897880"/>
            <a:ext cx="10728655" cy="502920"/>
          </a:xfrm>
          <a:prstGeom prst="roundRect">
            <a:avLst>
              <a:gd name="adj" fmla="val 5000"/>
            </a:avLst>
          </a:prstGeom>
          <a:solidFill>
            <a:srgbClr val="FFE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>
              <a:defRPr sz="1300" b="0">
                <a:solidFill>
                  <a:srgbClr val="9F1239"/>
                </a:solidFill>
              </a:defRPr>
            </a:pPr>
            <a:r>
              <a:t>Note: Recent analysis found widespread cheating on Terminal Bench 2.0 — top 3 submissions commit harness-level cheating.</a:t>
            </a:r>
            <a:br/>
            <a:r>
              <a:t>Our results are cheat-free and honest.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Painless Software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>
                <a:solidFill>
                  <a:srgbClr val="BFDBFE"/>
                </a:solidFill>
              </a:defRPr>
            </a:pPr>
            <a:r>
              <a:t>A Real Development Session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3246120"/>
            <a:ext cx="213329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Painless SE — Worktree Merge Redesign in 4 Prompts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6B7280"/>
                </a:solidFill>
              </a:defRPr>
            </a:pPr>
            <a:r>
              <a:t>Developer never opens a source file, writes code, or runs tests manually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3B82F6"/>
                </a:solidFill>
              </a:defRPr>
            </a:pPr>
            <a:r>
              <a:t>Step 1: Understand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201168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1B2A4A"/>
                </a:solidFill>
              </a:defRPr>
            </a:pPr>
            <a:r>
              <a:t>"Can you tell me what happens with git when a task finishes?"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237744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→ Agent reads source, returns structured 4-phase lifecycle summary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17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3B82F6"/>
                </a:solidFill>
              </a:defRPr>
            </a:pPr>
            <a:r>
              <a:t>Step 2: Redesign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301752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1B2A4A"/>
                </a:solidFill>
              </a:defRPr>
            </a:pPr>
            <a:r>
              <a:t>"Change it to simply ask Commit and Merge or Discard"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338328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→ Agent modifies 6 files across Python &amp; TypeScript, removes manual_merge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0233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3B82F6"/>
                </a:solidFill>
              </a:defRPr>
            </a:pPr>
            <a:r>
              <a:t>Step 3: Investigate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402336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1B2A4A"/>
                </a:solidFill>
              </a:defRPr>
            </a:pPr>
            <a:r>
              <a:t>"Why do modified files show up in Source Control?"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438912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→ Agent traces squash_merge_branch(), discovers deliberate git reset HEAD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02920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3B82F6"/>
                </a:solidFill>
              </a:defRPr>
            </a:pPr>
            <a:r>
              <a:t>Step 4: Fix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502920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1B2A4A"/>
                </a:solidFill>
              </a:defRPr>
            </a:pPr>
            <a:r>
              <a:t>"The review already happens in the worktree. Fix it."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539496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→ Agent replaces git reset with conditional git commit. All 104 tests pass.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806440"/>
            <a:ext cx="10728655" cy="548640"/>
          </a:xfrm>
          <a:prstGeom prst="roundRect">
            <a:avLst>
              <a:gd name="adj" fmla="val 5000"/>
            </a:avLst>
          </a:prstGeom>
          <a:solidFill>
            <a:srgbClr val="DCFB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>
              <a:defRPr sz="1400" b="0">
                <a:solidFill>
                  <a:srgbClr val="065941"/>
                </a:solidFill>
              </a:defRPr>
            </a:pPr>
            <a:r>
              <a:t>Entire cycle — understand, redesign, investigate, fix — via natural language.</a:t>
            </a:r>
            <a:br/>
            <a:r>
              <a:t>Worktree isolation + Chat persistence + Relentless continuation make this possible.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Design Philosophy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>
                <a:solidFill>
                  <a:srgbClr val="BFDBFE"/>
                </a:solidFill>
              </a:defRPr>
            </a:pPr>
            <a:r>
              <a:t>Quality Over Latency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3246120"/>
            <a:ext cx="213329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Quality Over Latency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▸  Weaker/cheaper models → discard &amp; retry → higher total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11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6B7280"/>
                </a:solidFill>
              </a:defRPr>
            </a:pPr>
            <a:r>
              <a:t>Using a capable model with proper validation is actually cheaper in aggregate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0604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▸  Frontier model + time to validate = dramatically less slop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971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6B7280"/>
                </a:solidFill>
              </a:defRPr>
            </a:pPr>
            <a:r>
              <a:t>Lint, typecheck, test before declaring success → consistently well-organized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661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▸  Token costs and inference latencies will continue to fall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931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6B7280"/>
                </a:solidFill>
              </a:defRPr>
            </a:pPr>
            <a:r>
              <a:t>Quality-first posture becomes increasingly practical over 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5262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▸  Built using itself — 4 months of continuous self-hosted stress test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892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6B7280"/>
                </a:solidFill>
              </a:defRPr>
            </a:pPr>
            <a:r>
              <a:t>Agent-introduced bugs immediately impair its own ability to work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Related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3246120"/>
            <a:ext cx="213329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Related Work — Landscape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10728655" cy="86868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 bIns="91440"/>
          <a:lstStyle/>
          <a:p>
            <a:pPr algn="ctr">
              <a:defRPr sz="1600" b="1">
                <a:solidFill>
                  <a:srgbClr val="1B2A4A"/>
                </a:solidFill>
              </a:defRPr>
            </a:pPr>
            <a:r>
              <a:t>Code-Specialized Models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Code Llama, StarCoder, DeepSeek-Coder,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Claude Opus 4.6, Cursor Composer 2, Kimi K2.5, GLM-5.1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14600"/>
            <a:ext cx="10728655" cy="868680"/>
          </a:xfrm>
          <a:prstGeom prst="roundRect">
            <a:avLst>
              <a:gd name="adj" fmla="val 5000"/>
            </a:avLst>
          </a:prstGeom>
          <a:solidFill>
            <a:srgbClr val="DCFB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 bIns="91440"/>
          <a:lstStyle/>
          <a:p>
            <a:pPr algn="ctr">
              <a:defRPr sz="1600" b="1">
                <a:solidFill>
                  <a:srgbClr val="065941"/>
                </a:solidFill>
              </a:defRPr>
            </a:pPr>
            <a:r>
              <a:t>Code Generation Agents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SWE-Agent, OpenHands, Agentless, Devin, Aider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KISS addresses single-session limitation + stronger safety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474720"/>
            <a:ext cx="10728655" cy="868680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 bIns="91440"/>
          <a:lstStyle/>
          <a:p>
            <a:pPr algn="ctr">
              <a:defRPr sz="1600" b="1">
                <a:solidFill>
                  <a:srgbClr val="92400E"/>
                </a:solidFill>
              </a:defRPr>
            </a:pPr>
            <a:r>
              <a:t>Multi-Agent Systems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ChatDev, MetaGPT, AutoGen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KISS: single agent with broad tools vs. role-playing specialists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434840"/>
            <a:ext cx="10728655" cy="868680"/>
          </a:xfrm>
          <a:prstGeom prst="roundRect">
            <a:avLst>
              <a:gd name="adj" fmla="val 5000"/>
            </a:avLst>
          </a:prstGeom>
          <a:solidFill>
            <a:srgbClr val="F3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 bIns="91440"/>
          <a:lstStyle/>
          <a:p>
            <a:pPr algn="ctr">
              <a:defRPr sz="1600" b="1">
                <a:solidFill>
                  <a:srgbClr val="6B21A8"/>
                </a:solidFill>
              </a:defRPr>
            </a:pPr>
            <a:r>
              <a:t>ReAct &amp; Reasoning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ReAct, Toolformer, CoT, Tree of Thoughts, Reflexion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KISS: native function calling + continuation summaries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394960"/>
            <a:ext cx="10728655" cy="868680"/>
          </a:xfrm>
          <a:prstGeom prst="roundRect">
            <a:avLst>
              <a:gd name="adj" fmla="val 5000"/>
            </a:avLst>
          </a:prstGeom>
          <a:solidFill>
            <a:srgbClr val="FFE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 bIns="91440"/>
          <a:lstStyle/>
          <a:p>
            <a:pPr algn="ctr">
              <a:defRPr sz="1600" b="1">
                <a:solidFill>
                  <a:srgbClr val="9F1239"/>
                </a:solidFill>
              </a:defRPr>
            </a:pPr>
            <a:r>
              <a:t>IDE Integration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GitHub Copilot, Cursor, Windsurf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They do completion/single-turn; KISS does autonomous multi-step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3246120"/>
            <a:ext cx="213329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Key Takeaways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1581912"/>
            <a:ext cx="365760" cy="36576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5544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Simplicity wins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581912"/>
            <a:ext cx="7040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74151"/>
                </a:solidFill>
              </a:defRPr>
            </a:pPr>
            <a:r>
              <a:t>~1,850 lines of Python beats systems with fine-tuning and RL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2112264"/>
            <a:ext cx="365760" cy="36576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084832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Layered single-concern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112264"/>
            <a:ext cx="7040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74151"/>
                </a:solidFill>
              </a:defRPr>
            </a:pPr>
            <a:r>
              <a:t>Each layer solves exactly one problem — compose for full power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2642616"/>
            <a:ext cx="365760" cy="36576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615184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System prompt = engineering discipline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642616"/>
            <a:ext cx="7040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74151"/>
                </a:solidFill>
              </a:defRPr>
            </a:pPr>
            <a:r>
              <a:t>Read before write, test before fix, plan before execute, verify before finish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172968"/>
            <a:ext cx="365760" cy="36576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45536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Quality &gt; Latency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3172968"/>
            <a:ext cx="7040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74151"/>
                </a:solidFill>
              </a:defRPr>
            </a:pPr>
            <a:r>
              <a:t>Let the model validate — dramatically reduces AI slop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75888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Self-hosted development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3703320"/>
            <a:ext cx="7040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74151"/>
                </a:solidFill>
              </a:defRPr>
            </a:pPr>
            <a:r>
              <a:t>Building with itself provides continuous stress testing</a:t>
            </a:r>
          </a:p>
        </p:txBody>
      </p:sp>
      <p:sp>
        <p:nvSpPr>
          <p:cNvPr id="21" name="Oval 20"/>
          <p:cNvSpPr/>
          <p:nvPr/>
        </p:nvSpPr>
        <p:spPr>
          <a:xfrm>
            <a:off x="731520" y="4233672"/>
            <a:ext cx="365760" cy="36576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2062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62.2% on Terminal Bench 2.0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4233672"/>
            <a:ext cx="7040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74151"/>
                </a:solidFill>
              </a:defRPr>
            </a:pPr>
            <a:r>
              <a:t>Outperforms Claude Code (58%) and Cursor Composer 2 (61.7%)</a:t>
            </a:r>
          </a:p>
        </p:txBody>
      </p:sp>
      <p:sp>
        <p:nvSpPr>
          <p:cNvPr id="24" name="Oval 23"/>
          <p:cNvSpPr/>
          <p:nvPr/>
        </p:nvSpPr>
        <p:spPr>
          <a:xfrm>
            <a:off x="731520" y="4764024"/>
            <a:ext cx="365760" cy="36576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4736592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Free &amp; open-source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4764024"/>
            <a:ext cx="7040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74151"/>
                </a:solidFill>
              </a:defRPr>
            </a:pPr>
            <a:r>
              <a:t>All you need is a model API key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The Golden Age of Experts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645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» If you are an expert and know how to use frontier models effectively, you are the King.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» Opus 4.6 is more intelligent than anything we have encountered in the past.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743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» We are the bottleneck — exploring what is possible.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291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» Several academic research efforts will become obsolete.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840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» People will write and customize their own software instead of relying on vendors.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389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» We must forget much conventional wisdom to make big strides.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9377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» In 3–5 years, expert knowledge will be incorporated into the best frontier model.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486400"/>
            <a:ext cx="10728655" cy="640080"/>
          </a:xfrm>
          <a:prstGeom prst="roundRect">
            <a:avLst>
              <a:gd name="adj" fmla="val 5000"/>
            </a:avLst>
          </a:prstGeom>
          <a:solidFill>
            <a:srgbClr val="FFE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>
              <a:defRPr sz="1500" b="0">
                <a:solidFill>
                  <a:srgbClr val="9F1239"/>
                </a:solidFill>
              </a:defRPr>
            </a:pPr>
            <a:r>
              <a:t>The biggest problem ahead may not be AI safety — it may be mental health.</a:t>
            </a:r>
            <a:br/>
            <a:r>
              <a:t>We need to address this before it becomes a crisis.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An Important Advice — Automated Fraud Detection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6B7280"/>
                </a:solidFill>
              </a:defRPr>
            </a:pPr>
            <a:r>
              <a:t>Use KISS Sorcar to identify issues in blogs, papers, and code repositories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828800"/>
            <a:ext cx="85340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B7280"/>
                </a:solidFill>
                <a:latin typeface="Courier New"/>
              </a:defRPr>
            </a:pPr>
            <a:r>
              <a:t>FRAUD DETECTION PROMPT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0" y="2103120"/>
            <a:ext cx="8534095" cy="3840480"/>
          </a:xfrm>
          <a:prstGeom prst="roundRect">
            <a:avLst>
              <a:gd name="adj" fmla="val 2000"/>
            </a:avLst>
          </a:prstGeom>
          <a:solidFill>
            <a:srgbClr val="F8FA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Can you read &lt;&lt;url&gt;&gt;, and thoroughly and precisely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check for **wrong assumptions**, **cheating**,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**irreproducibility issues**, **fraud**,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**potential for cheating in evaluation**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and **security vulnerabilities**?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Use internet search extensively and do not believe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what people say -- verify them yourself.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Do not hesitate to download code and run them to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validate results.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For security vulnerabilities, create a POC and test it.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Generate an html report in PWD/sorcar_reported_frauds/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and open in the user's default browser.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Thoroughly fact check everything you claim in the report.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2926080"/>
            <a:ext cx="213329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291840"/>
            <a:ext cx="1072865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>
                <a:solidFill>
                  <a:srgbClr val="BFDBFE"/>
                </a:solidFill>
              </a:defRPr>
            </a:pPr>
            <a:r>
              <a:t>Koushik Sen  •  UC Berkeley  •  ksen@berkeley.edu</a:t>
            </a:r>
          </a:p>
          <a:p>
            <a:pPr algn="ctr">
              <a:spcAft>
                <a:spcPts val="600"/>
              </a:spcAft>
              <a:defRPr sz="1800">
                <a:solidFill>
                  <a:srgbClr val="BFDBFE"/>
                </a:solidFill>
              </a:defRPr>
            </a:pPr>
            <a:r>
              <a:t>https://github.com/ksenxx/kiss_ai</a:t>
            </a:r>
          </a:p>
          <a:p>
            <a:pPr algn="ctr">
              <a:spcAft>
                <a:spcPts val="600"/>
              </a:spcAft>
              <a:defRPr sz="1800">
                <a:solidFill>
                  <a:srgbClr val="93C5FD"/>
                </a:solidFill>
              </a:defRPr>
            </a:pPr>
          </a:p>
          <a:p>
            <a:pPr algn="ctr">
              <a:spcAft>
                <a:spcPts val="600"/>
              </a:spcAft>
              <a:defRPr sz="1800">
                <a:solidFill>
                  <a:srgbClr val="93C5FD"/>
                </a:solidFill>
              </a:defRPr>
            </a:pPr>
            <a:r>
              <a:t>Free &amp; Open Source  •  VS Code Extension  •  Try it today!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0292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</a:defRPr>
            </a:pPr>
            <a:r>
              <a:t>Supported by: Accenture, Amazon, AMD, Anyscale, Broadcom, Google, IBM, Intel,</a:t>
            </a:r>
          </a:p>
          <a:p>
            <a:pPr algn="ctr">
              <a:defRPr sz="1200">
                <a:solidFill>
                  <a:srgbClr val="64748B"/>
                </a:solidFill>
              </a:defRPr>
            </a:pPr>
            <a:r>
              <a:t>Intesa Sanpaolo, Lambda, Lightspeed, Mibura, NVIDIA, Samsung SDS, SAP, DoE, DARPA</a:t>
            </a:r>
          </a:p>
          <a:p>
            <a:pPr>
              <a:defRPr sz="800"/>
            </a:pPr>
          </a:p>
          <a:p>
            <a:pPr algn="ctr">
              <a:defRPr sz="1200">
                <a:solidFill>
                  <a:srgbClr val="64748B"/>
                </a:solidFill>
              </a:defRPr>
            </a:pPr>
            <a:r>
              <a:t>Thanks to: Marius Momeu, Yogya Mehrotra, Debabrata Dash, Yiwei Hou, Kaiyao Ke,</a:t>
            </a:r>
          </a:p>
          <a:p>
            <a:pPr algn="ctr">
              <a:defRPr sz="1200">
                <a:solidFill>
                  <a:srgbClr val="64748B"/>
                </a:solidFill>
              </a:defRPr>
            </a:pPr>
            <a:r>
              <a:t>Muxi Lyu, Anoop Mishra, Manish Shetty, Ion Stoica, Shangyin Tan, Hao Wang, Matei Zaharia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